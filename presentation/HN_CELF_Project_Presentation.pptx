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c43ed306484947" /><Relationship Type="http://schemas.openxmlformats.org/officeDocument/2006/relationships/extended-properties" Target="/docProps/app.xml" Id="R41c8b7ec8622465c" /><Relationship Type="http://schemas.openxmlformats.org/officeDocument/2006/relationships/officeDocument" Target="/ppt/presentation.xml" Id="Ra734085758094df8" /></Relationships>
</file>

<file path=ppt/presentation.xml><?xml version="1.0" encoding="utf-8"?>
<p:presentation xmlns:p="http://schemas.openxmlformats.org/presentationml/2006/main">
  <p:sldMasterIdLst>
    <p:sldMasterId xmlns:r="http://schemas.openxmlformats.org/officeDocument/2006/relationships" id="2147483648" r:id="R849fce5ae9cf4266"/>
  </p:sldMasterIdLst>
  <p:notesMasterIdLst>
    <p:notesMasterId xmlns:r="http://schemas.openxmlformats.org/officeDocument/2006/relationships" r:id="Rba527414c9414bc6"/>
  </p:notesMasterIdLst>
  <p:sldIdLst>
    <p:sldId xmlns:r="http://schemas.openxmlformats.org/officeDocument/2006/relationships" id="256" r:id="R00c19a52219341fd"/>
    <p:sldId xmlns:r="http://schemas.openxmlformats.org/officeDocument/2006/relationships" id="257" r:id="Rb6026a2ebd6a4cb2"/>
    <p:sldId xmlns:r="http://schemas.openxmlformats.org/officeDocument/2006/relationships" id="258" r:id="Rfc83eb151d674f86"/>
    <p:sldId xmlns:r="http://schemas.openxmlformats.org/officeDocument/2006/relationships" id="259" r:id="R1f6bee8e4f514c47"/>
    <p:sldId xmlns:r="http://schemas.openxmlformats.org/officeDocument/2006/relationships" id="260" r:id="R4d1df9a66f16488d"/>
    <p:sldId xmlns:r="http://schemas.openxmlformats.org/officeDocument/2006/relationships" id="261" r:id="R0381666b26da47bf"/>
    <p:sldId xmlns:r="http://schemas.openxmlformats.org/officeDocument/2006/relationships" id="262" r:id="R3da83b8595034e5e"/>
    <p:sldId xmlns:r="http://schemas.openxmlformats.org/officeDocument/2006/relationships" id="263" r:id="R7ae52de41d574aa7"/>
    <p:sldId xmlns:r="http://schemas.openxmlformats.org/officeDocument/2006/relationships" id="264" r:id="R210829a0b04c470e"/>
    <p:sldId xmlns:r="http://schemas.openxmlformats.org/officeDocument/2006/relationships" id="265" r:id="R5cee75d864474f91"/>
    <p:sldId xmlns:r="http://schemas.openxmlformats.org/officeDocument/2006/relationships" id="266" r:id="R0eb1545e7445487f"/>
    <p:sldId xmlns:r="http://schemas.openxmlformats.org/officeDocument/2006/relationships" id="267" r:id="R819f93c9c7c449fa"/>
    <p:sldId xmlns:r="http://schemas.openxmlformats.org/officeDocument/2006/relationships" id="268" r:id="R85a02823685e44d8"/>
    <p:sldId xmlns:r="http://schemas.openxmlformats.org/officeDocument/2006/relationships" id="269" r:id="R8cc9c6717b0a4ce8"/>
    <p:sldId xmlns:r="http://schemas.openxmlformats.org/officeDocument/2006/relationships" id="270" r:id="Ra35cb70120474efb"/>
    <p:sldId xmlns:r="http://schemas.openxmlformats.org/officeDocument/2006/relationships" id="271" r:id="R31dcf35999854b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d6b7881f3841cf" /><Relationship Type="http://schemas.openxmlformats.org/officeDocument/2006/relationships/slideMaster" Target="/ppt/slideMasters/slideMaster1.xml" Id="R849fce5ae9cf4266" /><Relationship Type="http://schemas.openxmlformats.org/officeDocument/2006/relationships/notesMaster" Target="/ppt/notesMasters/notesMaster1.xml" Id="Rba527414c9414bc6" /><Relationship Type="http://schemas.openxmlformats.org/officeDocument/2006/relationships/presProps" Target="/ppt/presProps.xml" Id="R84b70e36c5ee4c5c" /><Relationship Type="http://schemas.openxmlformats.org/officeDocument/2006/relationships/tableStyles" Target="/ppt/tableStyles.xml" Id="Rb6e7df1784b841c9" /><Relationship Type="http://schemas.openxmlformats.org/officeDocument/2006/relationships/slide" Target="/ppt/slides/slide1.xml" Id="R00c19a52219341fd" /><Relationship Type="http://schemas.openxmlformats.org/officeDocument/2006/relationships/slide" Target="/ppt/slides/slide2.xml" Id="Rb6026a2ebd6a4cb2" /><Relationship Type="http://schemas.openxmlformats.org/officeDocument/2006/relationships/slide" Target="/ppt/slides/slide3.xml" Id="Rfc83eb151d674f86" /><Relationship Type="http://schemas.openxmlformats.org/officeDocument/2006/relationships/slide" Target="/ppt/slides/slide4.xml" Id="R1f6bee8e4f514c47" /><Relationship Type="http://schemas.openxmlformats.org/officeDocument/2006/relationships/slide" Target="/ppt/slides/slide5.xml" Id="R4d1df9a66f16488d" /><Relationship Type="http://schemas.openxmlformats.org/officeDocument/2006/relationships/slide" Target="/ppt/slides/slide6.xml" Id="R0381666b26da47bf" /><Relationship Type="http://schemas.openxmlformats.org/officeDocument/2006/relationships/slide" Target="/ppt/slides/slide7.xml" Id="R3da83b8595034e5e" /><Relationship Type="http://schemas.openxmlformats.org/officeDocument/2006/relationships/slide" Target="/ppt/slides/slide8.xml" Id="R7ae52de41d574aa7" /><Relationship Type="http://schemas.openxmlformats.org/officeDocument/2006/relationships/slide" Target="/ppt/slides/slide9.xml" Id="R210829a0b04c470e" /><Relationship Type="http://schemas.openxmlformats.org/officeDocument/2006/relationships/slide" Target="/ppt/slides/slide10.xml" Id="R5cee75d864474f91" /><Relationship Type="http://schemas.openxmlformats.org/officeDocument/2006/relationships/slide" Target="/ppt/slides/slide11.xml" Id="R0eb1545e7445487f" /><Relationship Type="http://schemas.openxmlformats.org/officeDocument/2006/relationships/slide" Target="/ppt/slides/slide12.xml" Id="R819f93c9c7c449fa" /><Relationship Type="http://schemas.openxmlformats.org/officeDocument/2006/relationships/slide" Target="/ppt/slides/slide13.xml" Id="R85a02823685e44d8" /><Relationship Type="http://schemas.openxmlformats.org/officeDocument/2006/relationships/slide" Target="/ppt/slides/slide14.xml" Id="R8cc9c6717b0a4ce8" /><Relationship Type="http://schemas.openxmlformats.org/officeDocument/2006/relationships/slide" Target="/ppt/slides/slide15.xml" Id="Ra35cb70120474efb" /><Relationship Type="http://schemas.openxmlformats.org/officeDocument/2006/relationships/slide" Target="/ppt/slides/slide16.xml" Id="R31dcf35999854b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1f2595e7e240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72a9d0f59e4d87" /><Relationship Type="http://schemas.openxmlformats.org/officeDocument/2006/relationships/notesMaster" Target="/ppt/notesMasters/notesMaster1.xml" Id="Ra6a524d5b7294e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36455575114452" /><Relationship Type="http://schemas.openxmlformats.org/officeDocument/2006/relationships/notesMaster" Target="/ppt/notesMasters/notesMaster1.xml" Id="R659e8e6fe5df4d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4f87c12d1c4751" /><Relationship Type="http://schemas.openxmlformats.org/officeDocument/2006/relationships/notesMaster" Target="/ppt/notesMasters/notesMaster1.xml" Id="Rffe5645a888147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f54352856d4d30" /><Relationship Type="http://schemas.openxmlformats.org/officeDocument/2006/relationships/notesMaster" Target="/ppt/notesMasters/notesMaster1.xml" Id="Rdedf0aee2f8e4b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b023e4900444dc" /><Relationship Type="http://schemas.openxmlformats.org/officeDocument/2006/relationships/notesMaster" Target="/ppt/notesMasters/notesMaster1.xml" Id="R3a160f9e14df4a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928d2cd5dc4de5" /><Relationship Type="http://schemas.openxmlformats.org/officeDocument/2006/relationships/notesMaster" Target="/ppt/notesMasters/notesMaster1.xml" Id="R26f57ee6ae1e40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db80cd3e6a43e6" /><Relationship Type="http://schemas.openxmlformats.org/officeDocument/2006/relationships/notesMaster" Target="/ppt/notesMasters/notesMaster1.xml" Id="Rb3fa8b39b0b942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9c25d82b2b4458" /><Relationship Type="http://schemas.openxmlformats.org/officeDocument/2006/relationships/notesMaster" Target="/ppt/notesMasters/notesMaster1.xml" Id="Rbdaafbf62f8f45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f475940ed044be" /><Relationship Type="http://schemas.openxmlformats.org/officeDocument/2006/relationships/notesMaster" Target="/ppt/notesMasters/notesMaster1.xml" Id="Rb25a505cdc8e4e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daa1936af74337" /><Relationship Type="http://schemas.openxmlformats.org/officeDocument/2006/relationships/notesMaster" Target="/ppt/notesMasters/notesMaster1.xml" Id="R02a52fb8d62048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9285ebd123479a" /><Relationship Type="http://schemas.openxmlformats.org/officeDocument/2006/relationships/notesMaster" Target="/ppt/notesMasters/notesMaster1.xml" Id="R1377a6928fbd4f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ef27d196aa4ead" /><Relationship Type="http://schemas.openxmlformats.org/officeDocument/2006/relationships/notesMaster" Target="/ppt/notesMasters/notesMaster1.xml" Id="R98923f6f5d194a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688380cfca24b55" /><Relationship Type="http://schemas.openxmlformats.org/officeDocument/2006/relationships/notesMaster" Target="/ppt/notesMasters/notesMaster1.xml" Id="Rf5325450b51746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cf1399677f4109" /><Relationship Type="http://schemas.openxmlformats.org/officeDocument/2006/relationships/notesMaster" Target="/ppt/notesMasters/notesMaster1.xml" Id="R7b45aa4227bd4e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01bab4c3eb42a0" /><Relationship Type="http://schemas.openxmlformats.org/officeDocument/2006/relationships/notesMaster" Target="/ppt/notesMasters/notesMaster1.xml" Id="Rc169401d1f4e4f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b014a61baf4eb4" /><Relationship Type="http://schemas.openxmlformats.org/officeDocument/2006/relationships/notesMaster" Target="/ppt/notesMasters/notesMaster1.xml" Id="R1a2a443d3d8a4b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team. The two teammate name and roll-number fields are intentionally editable placeholders. Explain that the project compares influence maximization with early discussion detection using a Hacker News reply network.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seed starts a simulated cascade. A sensor is a user we monitor in the recorded discussions. The application contribution is formulating sensor selection around early detection, rather than simply watching individually active users. CELF is an existing lazy implementation of greedy selection, not a new algorithm invented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data/hn_interactions_v3_CLEAN.csv, data/gephi_edges.csv, figures/fig_network_full.png. Observation range: 6 September 2025 to 6 September 2026, approximately one year. The supplied image uses the saved Gephi community partition. It does not show the newly computed canonical partition. The dataset is a filtered retained sample, not every Hacker News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section3a_detection.ipynb, final.ipynb, PROJECT_COMPLETION.ipynb. Historical headline selection used the 500 users with highest outbreak participation as candidates. An individual discussion contributes according to the earliest selected sensor. The corrected continuation uses max(0,1-delay/H), with zero for absence or arrivals after the horizon. The historical implementation did not clip late rewards, so do not attribute the monotone guarantee to that original implementation. Headline results on slides 8–13 are historical in-sample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an explanatory example, not project measurements. Greedy recomputes every remaining candidate’s marginal gain each round. CELF stores gains, examines the highest bound, refreshes stale gains and accepts a candidate once its score is current and still highest. Diminishing returns makes old gains valid upper bounds for a monotone submodular objective. The original notebook used a sorted list. The corrected completion implements a stamped heap priority queue.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influence_maximization_HN.ipynb, section2b_ris_sketch.ipynb, section3a_detection.ipynb, PROJECT_COMPLETION.ipynb. The historical main influence experiment compared degree, PageRank, betweenness, eigenvector, k-core and random. The continuation adds consistently defined outward closeness. RIS uses reverse-reachable sets for influence selection, not the historical detector. Louvain describes graph communities and does not directly select sensors.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figures/3_cascade_animation.gif and visualisation_suite.ipynb. This original eight-frame GIF is illustrative, using a 171-node filtered subgraph and doubled propagation probabilities. It is not the experiment used to produce the quantitative spread results. Run in PowerPoint Slide Show mode to display animation where supported. Independent Cascade gives each active node one activation attempt per inactive neighbor. The main historical model used min(1/in-degree(target),0.5).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final.ipynb, final_assets/verified_numbers.json, data/detection_results.csv. CELF detects 1,781 of 3,418 significant discussions. Random coverage 14.1106% is a saved mean over 10 random draws. These are historical in-sample results on retained discussions. Do not describe them as prospective coverage of every Hacker News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final.ipynb and data/detection_summary.json. Delay is conditional on detection. Lifespan is the median across all significant observed discussions. Of detected outbreaks, 77.6% were detected before half the retained replies occurred. Half-activity does not mean half elapsed duration or the peak. Explain those denominators briefly if asked.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data/detection_results.csv and final.ipynb. CELF covers 1,781 versus 1,585 for Top-reach. Relative gain is (1781-1585)/1585=12.3659%. Absolute recall gain is 5.734 percentage points. Top-reach ranks users by the number of significant discussions they participate in, not total comment volume. Historical in-sample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final.ipynb reconstructs participation from raw interactions. Repeated coverage = 1 - unique covered discussions / sum of individual sensor coverage. CELF: 1-1781/3465=48.6003%. Top-reach: 1-1585/4038=60.7479%. This descriptive result is consistent with complementary selection, not a separate causal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experiment_summary.json and influence_maximization_HN.ipynb. Greedy evaluated 9,990 candidates and CELF 2,527, a 3.9533 ratio. Saved run: k=5, pool=2,000, 500 Monte Carlo worlds. Agreement is with ordinary greedy, not exhaustive search. It does not prove global optimality or mathematically prove the theorem. Greedy’s 1-1/e bound requires a normalized monotone submodular objective; CELF preserves greedy selection under valid lazy bounds. Corrected fixed-world tests and clipped detection objective are in PROJECT_COMPLETION.ipynb. References: Leskovec et al. (2007), https://www.cs.cmu.edu/~guestrin/Publications/KDD2007/kdd2007.pdf; Kempe et al. (2003), https://www.cs.cornell.edu/home/kleinber/kdd03-inf.pdf.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im_results.csv and data/detection_results.csv, both at k=30. Influence: 1519.934 versus Degree 1511.984, +0.5258%. Detection: CELF 61.2346% versus Top-reach 54.1252%, +13.134%. Different candidate pools, baselines and estimators prevent causal attribution solely to changing the objective. This supports an application comparison, not an assertion of new mathematical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figures/fig_network_seeds_vs_sensors.png. Historical saved seed and sensor sets: 30 influence seeds, 20 detection sensors, six shared users. Budgets differ, so this is an illustrative membership comparison, not a controlled overlap test. The network layout does not prove that a particular location causes successful detection.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completion_outputs/test_detection_results.csv and chronological_splits.csv. CELF detects 265/988=26.8219%, Top-reach 451/988=45.6478%. Training contains 1,382 outbreaks, validation 847, test 988. Purge 258 discussions crossing temporal boundaries. Corrected horizon derived from training: 36.18 hours. Original historical selection and scoring share the same data. The continuation also changes the clipped objective and eligible population, so do not interpret the raw 52.1 to 26.8 change as a pure causal estimate of leakage. Results do not establish future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explanation: We model early discussion detection as a set-selection problem. CELF efficiently chooses users who add new early coverage. Its retrospective benefit depends on the task and period. The project contributes a case study and evaluation, not a new CELF algorithm or proof of its theorem. Primary methodological references: Kempe, Kleinberg and Tardos (2003), https://www.cs.cornell.edu/home/kleinber/kdd03-inf.pdf; Leskovec et al. (2007), https://www.cs.cmu.edu/~guestrin/Publications/KDD2007/kdd2007.pdf; Borgs et al. (2014), https://www.microsoft.com/en-us/research/publication/maximizing-social-influence-nearly-optimal-time/. Ask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894ba432cc45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967444e4264371" /><Relationship Type="http://schemas.openxmlformats.org/officeDocument/2006/relationships/slideLayout" Target="/ppt/slideLayouts/slideLayout1.xml" Id="R88f71a30ccb044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f71a30ccb044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bc5057e92f4504" /><Relationship Type="http://schemas.openxmlformats.org/officeDocument/2006/relationships/notesSlide" Target="/ppt/notesSlides/notesSlide1.xml" Id="R9055c9e6585a4a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bc70c79f31471a" /><Relationship Type="http://schemas.openxmlformats.org/officeDocument/2006/relationships/notesSlide" Target="/ppt/notesSlides/notesSlide2.xml" Id="Ra0229e22307643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f06a5986ce44f3" /><Relationship Type="http://schemas.openxmlformats.org/officeDocument/2006/relationships/image" Target="/ppt/media/image.png" Id="Rd7530ead19ec4031" /><Relationship Type="http://schemas.openxmlformats.org/officeDocument/2006/relationships/notesSlide" Target="/ppt/notesSlides/notesSlide3.xml" Id="Re9d7f032484e40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ccd221751d4037" /><Relationship Type="http://schemas.openxmlformats.org/officeDocument/2006/relationships/notesSlide" Target="/ppt/notesSlides/notesSlide4.xml" Id="R4fe01bf59b354f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7cd61ca5204e68" /><Relationship Type="http://schemas.openxmlformats.org/officeDocument/2006/relationships/notesSlide" Target="/ppt/notesSlides/notesSlide5.xml" Id="Rcf84cfc1e80846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c8f76b65807435b" /><Relationship Type="http://schemas.openxmlformats.org/officeDocument/2006/relationships/notesSlide" Target="/ppt/notesSlides/notesSlide6.xml" Id="R43820ee9cd254b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5ce5816616482d" /><Relationship Type="http://schemas.openxmlformats.org/officeDocument/2006/relationships/image" Target="/ppt/media/image.gif" Id="R1a90e26983e04cff" /><Relationship Type="http://schemas.openxmlformats.org/officeDocument/2006/relationships/notesSlide" Target="/ppt/notesSlides/notesSlide7.xml" Id="Reb64013e254748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12cb4a16e6c4122" /><Relationship Type="http://schemas.openxmlformats.org/officeDocument/2006/relationships/image" Target="/ppt/media/image2.png" Id="Rc8337557d51e491c" /><Relationship Type="http://schemas.openxmlformats.org/officeDocument/2006/relationships/notesSlide" Target="/ppt/notesSlides/notesSlide8.xml" Id="R200b8d3e9cef4c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b73964f6354bd9" /><Relationship Type="http://schemas.openxmlformats.org/officeDocument/2006/relationships/image" Target="/ppt/media/image3.png" Id="Rdc78665f21c4464f" /><Relationship Type="http://schemas.openxmlformats.org/officeDocument/2006/relationships/notesSlide" Target="/ppt/notesSlides/notesSlide9.xml" Id="R2962e88e080544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4c1c9040244bb0" /><Relationship Type="http://schemas.openxmlformats.org/officeDocument/2006/relationships/image" Target="/ppt/media/image4.png" Id="Rf426408556844f8e" /><Relationship Type="http://schemas.openxmlformats.org/officeDocument/2006/relationships/notesSlide" Target="/ppt/notesSlides/notesSlide10.xml" Id="Rcc7f32d6c93348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b8fd0f6597a43e7" /><Relationship Type="http://schemas.openxmlformats.org/officeDocument/2006/relationships/image" Target="/ppt/media/image5.png" Id="R5862e12ca8844e11" /><Relationship Type="http://schemas.openxmlformats.org/officeDocument/2006/relationships/notesSlide" Target="/ppt/notesSlides/notesSlide11.xml" Id="Rb27f39f1c00c4f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4ae7e3285234f16" /><Relationship Type="http://schemas.openxmlformats.org/officeDocument/2006/relationships/image" Target="/ppt/media/image6.png" Id="R2a8c30daf5574a98" /><Relationship Type="http://schemas.openxmlformats.org/officeDocument/2006/relationships/notesSlide" Target="/ppt/notesSlides/notesSlide12.xml" Id="R7bd9bbdcaec54f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a30d2b38e344bcb" /><Relationship Type="http://schemas.openxmlformats.org/officeDocument/2006/relationships/image" Target="/ppt/media/image7.png" Id="R507213c8cb9049cc" /><Relationship Type="http://schemas.openxmlformats.org/officeDocument/2006/relationships/notesSlide" Target="/ppt/notesSlides/notesSlide13.xml" Id="R6b619b030dd34d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5034d9f29b64fbe" /><Relationship Type="http://schemas.openxmlformats.org/officeDocument/2006/relationships/image" Target="/ppt/media/image8.png" Id="Reeb526e5627345b4" /><Relationship Type="http://schemas.openxmlformats.org/officeDocument/2006/relationships/notesSlide" Target="/ppt/notesSlides/notesSlide14.xml" Id="Rdb308c8221b448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3021b02793e4b68" /><Relationship Type="http://schemas.openxmlformats.org/officeDocument/2006/relationships/chart" Target="/ppt/slides/charts/chart1.xml" Id="Rbb144e589347420b" /><Relationship Type="http://schemas.openxmlformats.org/officeDocument/2006/relationships/notesSlide" Target="/ppt/notesSlides/notesSlide15.xml" Id="Rb7994a8fa99d4b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bd27662a7a5446e" /><Relationship Type="http://schemas.openxmlformats.org/officeDocument/2006/relationships/notesSlide" Target="/ppt/notesSlides/notesSlide16.xml" Id="R5833cd63e3084de5" /></Relationships>
</file>

<file path=ppt/slides/charts/chart1.xml><?xml version="1.0" encoding="utf-8"?>
<c:chartSpace xmlns:c="http://schemas.openxmlformats.org/drawingml/2006/chart">
  <c:lang val="en-US"/>
  <c:chart>
    <c:plotArea>
      <c:barChart>
        <c:barDir val="col"/>
        <c:grouping val="clustered"/>
        <c:varyColors val="0"/>
        <c:ser>
          <c:idx val="0"/>
          <c:order val="0"/>
          <c:tx>
            <c:v>Held-out detection rate</c:v>
          </c:tx>
          <c:spPr>
            <a:solidFill xmlns:a="http://schemas.openxmlformats.org/drawingml/2006/main">
              <a:srgbClr val="168575"/>
            </a:solidFill>
          </c:spPr>
          <c:dPt>
            <c:idx val="0"/>
            <c:invertIfNegative val="0"/>
            <c:spPr>
              <a:solidFill xmlns:a="http://schemas.openxmlformats.org/drawingml/2006/main">
                <a:srgbClr val="168575"/>
              </a:solidFill>
            </c:spPr>
          </c:dPt>
          <c:dPt>
            <c:idx val="1"/>
            <c:invertIfNegative val="0"/>
            <c:spPr>
              <a:solidFill xmlns:a="http://schemas.openxmlformats.org/drawingml/2006/main">
                <a:srgbClr val="8094A2"/>
              </a:solidFill>
            </c:spPr>
          </c:dPt>
          <c:cat>
            <c:strLit>
              <c:ptCount val="2"/>
              <c:pt idx="0">
                <c:v>CELF</c:v>
              </c:pt>
              <c:pt idx="1">
                <c:v>Top-reach</c:v>
              </c:pt>
            </c:strLit>
          </c:cat>
          <c:val>
            <c:numLit>
              <c:formatCode>0.0%</c:formatCode>
              <c:ptCount val="2"/>
              <c:pt idx="0">
                <c:v>0.2682186234817814</c:v>
              </c:pt>
              <c:pt idx="1">
                <c:v>0.4564777327935223</c:v>
              </c:pt>
            </c:numLit>
          </c:val>
        </c:ser>
        <c:dLbls>
          <c:txPr>
            <a:bodyPr xmlns:a="http://schemas.openxmlformats.org/drawingml/2006/main" anchorCtr="1"/>
            <a:lstStyle xmlns:a="http://schemas.openxmlformats.org/drawingml/2006/main"/>
            <a:p xmlns:a="http://schemas.openxmlformats.org/drawingml/2006/main">
              <a:pPr>
                <a:defRPr sz="1950" b="1">
                  <a:solidFill>
                    <a:srgbClr val="20344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03445"/>
                </a:solidFill>
                <a:latin typeface="Helvetica Neue"/>
                <a:ea typeface="Helvetica Neue"/>
                <a:cs typeface="Helvetica Neue"/>
              </a:defRPr>
            </a:pPr>
          </a:p>
        </c:txPr>
        <c:crossAx val="48672768"/>
      </c:catAx>
      <c:valAx>
        <c:axId val="48672768"/>
        <c:scaling>
          <c:orientation val="minMax"/>
          <c:max val="0.6"/>
          <c:min val="0"/>
        </c:scaling>
        <c:delete val="0"/>
        <c:axPos val="l"/>
        <c:majorGridlines>
          <c:spPr>
            <a:ln xmlns:a="http://schemas.openxmlformats.org/drawingml/2006/main" w="5715">
              <a:solidFill>
                <a:srgbClr val="DFE7E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879"/>
                </a:solidFill>
                <a:latin typeface="Helvetica Neue"/>
                <a:ea typeface="Helvetica Neue"/>
                <a:cs typeface="Helvetica Neue"/>
              </a:defRPr>
            </a:pPr>
          </a:p>
        </c:txPr>
        <c:crossAx val="48650112"/>
        <c:crossBetween val="between"/>
      </c:valAx>
      <c:spPr>
        <a:solidFill xmlns:a="http://schemas.openxmlformats.org/drawingml/2006/main">
          <a:srgbClr val="FAFCFD"/>
        </a:solidFill>
      </c:spPr>
    </c:plotArea>
    <c:plotVisOnly val="1"/>
  </c:chart>
  <c:spPr>
    <a:solidFill xmlns:a="http://schemas.openxmlformats.org/drawingml/2006/main">
      <a:srgbClr val="FAFCFD"/>
    </a:solidFill>
  </c:spPr>
</c:chartSpace>
</file>

<file path=ppt/slides/slide1.xml><?xml version="1.0" encoding="utf-8"?>
<p:sld xmlns:p="http://schemas.openxmlformats.org/presentationml/2006/main">
  <p:cSld>
    <p:bg>
      <p:bgPr>
        <a:solidFill xmlns:a="http://schemas.openxmlformats.org/drawingml/2006/main">
          <a:srgbClr val="122939"/>
        </a:solidFill>
      </p:bgPr>
    </p:bg>
    <p:spTree>
      <p:nvGrpSpPr>
        <p:cNvPr id="1" name=""/>
        <p:cNvGrpSpPr/>
        <p:nvPr/>
      </p:nvGrpSpPr>
      <p:grpSpPr>
        <a:xfrm xmlns:a="http://schemas.openxmlformats.org/drawingml/2006/main"/>
      </p:grpSpPr>
      <p:sp>
        <p:nvSpPr>
          <p:cNvPr id="11" name="text-213mdk-1180-673">
            <a:extLst xmlns:a="http://schemas.openxmlformats.org/drawingml/2006/main">
              <a:ext uri="{FF2B5EF4-FFF2-40B4-BE49-F238E27FC236}">
                <a16:creationId xmlns:a16="http://schemas.microsoft.com/office/drawing/2014/main" id="{623450E0-4314-47DE-8DCA-CCFDC1B86484}"/>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D1DD"/>
                </a:solidFill>
                <a:latin typeface="Helvetica Neue"/>
                <a:ea typeface="Helvetica Neue"/>
                <a:cs typeface="Helvetica Neue"/>
              </a:defRPr>
            </a:pPr>
            <a:r>
              <a:rPr sz="1200" b="0">
                <a:solidFill>
                  <a:srgbClr val="BFD1DD"/>
                </a:solidFill>
                <a:latin typeface="Helvetica Neue"/>
                <a:ea typeface="Helvetica Neue"/>
                <a:cs typeface="Helvetica Neue"/>
              </a:rPr>
              <a:t>01</a:t>
            </a:r>
          </a:p>
        </p:txBody>
      </p:sp>
      <p:sp>
        <p:nvSpPr>
          <p:cNvPr id="2" name="text-213mdk-68-65">
            <a:extLst xmlns:a="http://schemas.openxmlformats.org/drawingml/2006/main">
              <a:ext uri="{FF2B5EF4-FFF2-40B4-BE49-F238E27FC236}">
                <a16:creationId xmlns:a16="http://schemas.microsoft.com/office/drawing/2014/main" id="{D5688E88-488F-412D-8070-2E475920CBE3}"/>
              </a:ext>
            </a:extLst>
          </p:cNvPr>
          <p:cNvSpPr>
            <a:spLocks xmlns:a="http://schemas.openxmlformats.org/drawingml/2006/main" noGrp="1"/>
          </p:cNvSpPr>
          <p:nvPr/>
        </p:nvSpPr>
        <p:spPr>
          <a:xfrm xmlns:a="http://schemas.openxmlformats.org/drawingml/2006/main">
            <a:off x="647700" y="61912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0CFC3"/>
                </a:solidFill>
                <a:latin typeface="Helvetica Neue"/>
                <a:ea typeface="Helvetica Neue"/>
                <a:cs typeface="Helvetica Neue"/>
              </a:defRPr>
            </a:pPr>
            <a:r>
              <a:rPr sz="1500" b="1">
                <a:solidFill>
                  <a:srgbClr val="80CFC3"/>
                </a:solidFill>
                <a:latin typeface="Helvetica Neue"/>
                <a:ea typeface="Helvetica Neue"/>
                <a:cs typeface="Helvetica Neue"/>
              </a:rPr>
              <a:t>SOCIAL NETWORK ANALYSIS</a:t>
            </a:r>
          </a:p>
        </p:txBody>
      </p:sp>
      <p:sp>
        <p:nvSpPr>
          <p:cNvPr id="3" name="text-213mdk-64-134">
            <a:extLst xmlns:a="http://schemas.openxmlformats.org/drawingml/2006/main">
              <a:ext uri="{FF2B5EF4-FFF2-40B4-BE49-F238E27FC236}">
                <a16:creationId xmlns:a16="http://schemas.microsoft.com/office/drawing/2014/main" id="{AAC35466-DD29-4CBB-85DF-54AECACD357E}"/>
              </a:ext>
            </a:extLst>
          </p:cNvPr>
          <p:cNvSpPr>
            <a:spLocks xmlns:a="http://schemas.openxmlformats.org/drawingml/2006/main" noGrp="1"/>
          </p:cNvSpPr>
          <p:nvPr/>
        </p:nvSpPr>
        <p:spPr>
          <a:xfrm xmlns:a="http://schemas.openxmlformats.org/drawingml/2006/main">
            <a:off x="609600" y="1276350"/>
            <a:ext cx="10572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Influence Maximization</a:t>
            </a:r>
          </a:p>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and Early Discussion</a:t>
            </a:r>
          </a:p>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Detection</a:t>
            </a:r>
          </a:p>
        </p:txBody>
      </p:sp>
      <p:sp>
        <p:nvSpPr>
          <p:cNvPr id="4" name="text-213mdk-68-390">
            <a:extLst xmlns:a="http://schemas.openxmlformats.org/drawingml/2006/main">
              <a:ext uri="{FF2B5EF4-FFF2-40B4-BE49-F238E27FC236}">
                <a16:creationId xmlns:a16="http://schemas.microsoft.com/office/drawing/2014/main" id="{E333581C-EC99-442B-914D-3707E88B21A8}"/>
              </a:ext>
            </a:extLst>
          </p:cNvPr>
          <p:cNvSpPr>
            <a:spLocks xmlns:a="http://schemas.openxmlformats.org/drawingml/2006/main" noGrp="1"/>
          </p:cNvSpPr>
          <p:nvPr/>
        </p:nvSpPr>
        <p:spPr>
          <a:xfrm xmlns:a="http://schemas.openxmlformats.org/drawingml/2006/main">
            <a:off x="647700" y="3714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FD1DD"/>
                </a:solidFill>
                <a:latin typeface="Helvetica Neue"/>
                <a:ea typeface="Helvetica Neue"/>
                <a:cs typeface="Helvetica Neue"/>
              </a:defRPr>
            </a:pPr>
            <a:r>
              <a:rPr sz="2250" b="0">
                <a:solidFill>
                  <a:srgbClr val="BFD1DD"/>
                </a:solidFill>
                <a:latin typeface="Helvetica Neue"/>
                <a:ea typeface="Helvetica Neue"/>
                <a:cs typeface="Helvetica Neue"/>
              </a:rPr>
              <a:t>A Hacker News case study using CELF</a:t>
            </a:r>
          </a:p>
        </p:txBody>
      </p:sp>
      <p:sp>
        <p:nvSpPr>
          <p:cNvPr id="5" name="text-213mdk-68-531">
            <a:extLst xmlns:a="http://schemas.openxmlformats.org/drawingml/2006/main">
              <a:ext uri="{FF2B5EF4-FFF2-40B4-BE49-F238E27FC236}">
                <a16:creationId xmlns:a16="http://schemas.microsoft.com/office/drawing/2014/main" id="{534674BA-4877-4B9B-8026-5944688627B3}"/>
              </a:ext>
            </a:extLst>
          </p:cNvPr>
          <p:cNvSpPr>
            <a:spLocks xmlns:a="http://schemas.openxmlformats.org/drawingml/2006/main" noGrp="1"/>
          </p:cNvSpPr>
          <p:nvPr/>
        </p:nvSpPr>
        <p:spPr>
          <a:xfrm xmlns:a="http://schemas.openxmlformats.org/drawingml/2006/main">
            <a:off x="647700" y="5057775"/>
            <a:ext cx="371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Mudigonda Himanshu</a:t>
            </a:r>
          </a:p>
        </p:txBody>
      </p:sp>
      <p:sp>
        <p:nvSpPr>
          <p:cNvPr id="6" name="text-213mdk-68-579">
            <a:extLst xmlns:a="http://schemas.openxmlformats.org/drawingml/2006/main">
              <a:ext uri="{FF2B5EF4-FFF2-40B4-BE49-F238E27FC236}">
                <a16:creationId xmlns:a16="http://schemas.microsoft.com/office/drawing/2014/main" id="{36A43255-0DBD-40EC-8B3A-2CE8AE9A1831}"/>
              </a:ext>
            </a:extLst>
          </p:cNvPr>
          <p:cNvSpPr>
            <a:spLocks xmlns:a="http://schemas.openxmlformats.org/drawingml/2006/main" noGrp="1"/>
          </p:cNvSpPr>
          <p:nvPr/>
        </p:nvSpPr>
        <p:spPr>
          <a:xfrm xmlns:a="http://schemas.openxmlformats.org/drawingml/2006/main">
            <a:off x="647700" y="5514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D1DD"/>
                </a:solidFill>
                <a:latin typeface="Helvetica Neue"/>
                <a:ea typeface="Helvetica Neue"/>
                <a:cs typeface="Helvetica Neue"/>
              </a:defRPr>
            </a:pPr>
            <a:r>
              <a:rPr sz="1650" b="0">
                <a:solidFill>
                  <a:srgbClr val="BFD1DD"/>
                </a:solidFill>
                <a:latin typeface="Helvetica Neue"/>
                <a:ea typeface="Helvetica Neue"/>
                <a:cs typeface="Helvetica Neue"/>
              </a:rPr>
              <a:t>CB.SC.U4CSE23040</a:t>
            </a:r>
          </a:p>
        </p:txBody>
      </p:sp>
      <p:sp>
        <p:nvSpPr>
          <p:cNvPr id="7" name="text-213mdk-492-531">
            <a:extLst xmlns:a="http://schemas.openxmlformats.org/drawingml/2006/main">
              <a:ext uri="{FF2B5EF4-FFF2-40B4-BE49-F238E27FC236}">
                <a16:creationId xmlns:a16="http://schemas.microsoft.com/office/drawing/2014/main" id="{E76E286C-C8AC-42BF-A0F7-4AB5E096CC30}"/>
              </a:ext>
            </a:extLst>
          </p:cNvPr>
          <p:cNvSpPr>
            <a:spLocks xmlns:a="http://schemas.openxmlformats.org/drawingml/2006/main" noGrp="1"/>
          </p:cNvSpPr>
          <p:nvPr/>
        </p:nvSpPr>
        <p:spPr>
          <a:xfrm xmlns:a="http://schemas.openxmlformats.org/drawingml/2006/main">
            <a:off x="4686300" y="5057775"/>
            <a:ext cx="3105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D1DD"/>
                </a:solidFill>
                <a:latin typeface="Helvetica Neue"/>
                <a:ea typeface="Helvetica Neue"/>
                <a:cs typeface="Helvetica Neue"/>
              </a:defRPr>
            </a:pPr>
            <a:r>
              <a:rPr sz="1650" b="0">
                <a:solidFill>
                  <a:srgbClr val="BFD1DD"/>
                </a:solidFill>
                <a:latin typeface="Helvetica Neue"/>
                <a:ea typeface="Helvetica Neue"/>
                <a:cs typeface="Helvetica Neue"/>
              </a:rPr>
              <a:t>Name: __________________</a:t>
            </a:r>
          </a:p>
        </p:txBody>
      </p:sp>
      <p:sp>
        <p:nvSpPr>
          <p:cNvPr id="8" name="text-213mdk-492-579">
            <a:extLst xmlns:a="http://schemas.openxmlformats.org/drawingml/2006/main">
              <a:ext uri="{FF2B5EF4-FFF2-40B4-BE49-F238E27FC236}">
                <a16:creationId xmlns:a16="http://schemas.microsoft.com/office/drawing/2014/main" id="{DA336760-E2FB-401E-86B7-8099D0D201AB}"/>
              </a:ext>
            </a:extLst>
          </p:cNvPr>
          <p:cNvSpPr>
            <a:spLocks xmlns:a="http://schemas.openxmlformats.org/drawingml/2006/main" noGrp="1"/>
          </p:cNvSpPr>
          <p:nvPr/>
        </p:nvSpPr>
        <p:spPr>
          <a:xfrm xmlns:a="http://schemas.openxmlformats.org/drawingml/2006/main">
            <a:off x="4686300" y="5514975"/>
            <a:ext cx="3105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FD1DD"/>
                </a:solidFill>
                <a:latin typeface="Helvetica Neue"/>
                <a:ea typeface="Helvetica Neue"/>
                <a:cs typeface="Helvetica Neue"/>
              </a:defRPr>
            </a:pPr>
            <a:r>
              <a:rPr sz="1500" b="0">
                <a:solidFill>
                  <a:srgbClr val="BFD1DD"/>
                </a:solidFill>
                <a:latin typeface="Helvetica Neue"/>
                <a:ea typeface="Helvetica Neue"/>
                <a:cs typeface="Helvetica Neue"/>
              </a:rPr>
              <a:t>Roll no.: _____________________</a:t>
            </a:r>
          </a:p>
        </p:txBody>
      </p:sp>
      <p:sp>
        <p:nvSpPr>
          <p:cNvPr id="9" name="text-213mdk-876-531">
            <a:extLst xmlns:a="http://schemas.openxmlformats.org/drawingml/2006/main">
              <a:ext uri="{FF2B5EF4-FFF2-40B4-BE49-F238E27FC236}">
                <a16:creationId xmlns:a16="http://schemas.microsoft.com/office/drawing/2014/main" id="{E7376C18-0962-4680-8C6B-C661A5BCF80A}"/>
              </a:ext>
            </a:extLst>
          </p:cNvPr>
          <p:cNvSpPr>
            <a:spLocks xmlns:a="http://schemas.openxmlformats.org/drawingml/2006/main" noGrp="1"/>
          </p:cNvSpPr>
          <p:nvPr/>
        </p:nvSpPr>
        <p:spPr>
          <a:xfrm xmlns:a="http://schemas.openxmlformats.org/drawingml/2006/main">
            <a:off x="8343900" y="5057775"/>
            <a:ext cx="3105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D1DD"/>
                </a:solidFill>
                <a:latin typeface="Helvetica Neue"/>
                <a:ea typeface="Helvetica Neue"/>
                <a:cs typeface="Helvetica Neue"/>
              </a:defRPr>
            </a:pPr>
            <a:r>
              <a:rPr sz="1650" b="0">
                <a:solidFill>
                  <a:srgbClr val="BFD1DD"/>
                </a:solidFill>
                <a:latin typeface="Helvetica Neue"/>
                <a:ea typeface="Helvetica Neue"/>
                <a:cs typeface="Helvetica Neue"/>
              </a:rPr>
              <a:t>Name: __________________</a:t>
            </a:r>
          </a:p>
        </p:txBody>
      </p:sp>
      <p:sp>
        <p:nvSpPr>
          <p:cNvPr id="10" name="text-213mdk-876-579">
            <a:extLst xmlns:a="http://schemas.openxmlformats.org/drawingml/2006/main">
              <a:ext uri="{FF2B5EF4-FFF2-40B4-BE49-F238E27FC236}">
                <a16:creationId xmlns:a16="http://schemas.microsoft.com/office/drawing/2014/main" id="{8B1702B1-5EFD-4E64-89FC-AA6356D503B7}"/>
              </a:ext>
            </a:extLst>
          </p:cNvPr>
          <p:cNvSpPr>
            <a:spLocks xmlns:a="http://schemas.openxmlformats.org/drawingml/2006/main" noGrp="1"/>
          </p:cNvSpPr>
          <p:nvPr/>
        </p:nvSpPr>
        <p:spPr>
          <a:xfrm xmlns:a="http://schemas.openxmlformats.org/drawingml/2006/main">
            <a:off x="8343900" y="5514975"/>
            <a:ext cx="3105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FD1DD"/>
                </a:solidFill>
                <a:latin typeface="Helvetica Neue"/>
                <a:ea typeface="Helvetica Neue"/>
                <a:cs typeface="Helvetica Neue"/>
              </a:defRPr>
            </a:pPr>
            <a:r>
              <a:rPr sz="1500" b="0">
                <a:solidFill>
                  <a:srgbClr val="BFD1DD"/>
                </a:solidFill>
                <a:latin typeface="Helvetica Neue"/>
                <a:ea typeface="Helvetica Neue"/>
                <a:cs typeface="Helvetica Neue"/>
              </a:rPr>
              <a:t>Roll no.: _____________________</a:t>
            </a:r>
          </a:p>
        </p:txBody>
      </p:sp>
    </p:spTree>
    <p:extLst>
      <p:ext uri="{BB962C8B-B14F-4D97-AF65-F5344CB8AC3E}">
        <p14:creationId xmlns:p14="http://schemas.microsoft.com/office/powerpoint/2010/main" val="1747703622"/>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1" name="text-c8otu1-64-42">
            <a:extLst xmlns:a="http://schemas.openxmlformats.org/drawingml/2006/main">
              <a:ext uri="{FF2B5EF4-FFF2-40B4-BE49-F238E27FC236}">
                <a16:creationId xmlns:a16="http://schemas.microsoft.com/office/drawing/2014/main" id="{0AC4BADE-385C-41E6-8701-0529C7DC78D3}"/>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The selection problem</a:t>
            </a:r>
          </a:p>
        </p:txBody>
      </p:sp>
      <p:sp>
        <p:nvSpPr>
          <p:cNvPr id="2" name="text-c8otu1-66-113">
            <a:extLst xmlns:a="http://schemas.openxmlformats.org/drawingml/2006/main">
              <a:ext uri="{FF2B5EF4-FFF2-40B4-BE49-F238E27FC236}">
                <a16:creationId xmlns:a16="http://schemas.microsoft.com/office/drawing/2014/main" id="{8F1D1E3C-4C31-47C3-AB47-49192A6689D0}"/>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Which small group of users gives us the most useful coverage?</a:t>
            </a:r>
          </a:p>
        </p:txBody>
      </p:sp>
      <p:sp>
        <p:nvSpPr>
          <p:cNvPr id="3" name="text-c8otu1-1180-673">
            <a:extLst xmlns:a="http://schemas.openxmlformats.org/drawingml/2006/main">
              <a:ext uri="{FF2B5EF4-FFF2-40B4-BE49-F238E27FC236}">
                <a16:creationId xmlns:a16="http://schemas.microsoft.com/office/drawing/2014/main" id="{83151064-50D9-483A-9D44-FFB560F1A465}"/>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02</a:t>
            </a:r>
          </a:p>
        </p:txBody>
      </p:sp>
      <p:sp>
        <p:nvSpPr>
          <p:cNvPr id="4" name="text-c8otu1-68-222">
            <a:extLst xmlns:a="http://schemas.openxmlformats.org/drawingml/2006/main">
              <a:ext uri="{FF2B5EF4-FFF2-40B4-BE49-F238E27FC236}">
                <a16:creationId xmlns:a16="http://schemas.microsoft.com/office/drawing/2014/main" id="{C31AFBE1-A3A4-4029-9362-E5FD3C4A51DA}"/>
              </a:ext>
            </a:extLst>
          </p:cNvPr>
          <p:cNvSpPr>
            <a:spLocks xmlns:a="http://schemas.openxmlformats.org/drawingml/2006/main" noGrp="1"/>
          </p:cNvSpPr>
          <p:nvPr/>
        </p:nvSpPr>
        <p:spPr>
          <a:xfrm xmlns:a="http://schemas.openxmlformats.org/drawingml/2006/main">
            <a:off x="647700" y="2114550"/>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575"/>
                </a:solidFill>
                <a:latin typeface="Helvetica Neue"/>
                <a:ea typeface="Helvetica Neue"/>
                <a:cs typeface="Helvetica Neue"/>
              </a:defRPr>
            </a:pPr>
            <a:r>
              <a:rPr sz="1725" b="1">
                <a:solidFill>
                  <a:srgbClr val="168575"/>
                </a:solidFill>
                <a:latin typeface="Helvetica Neue"/>
                <a:ea typeface="Helvetica Neue"/>
                <a:cs typeface="Helvetica Neue"/>
              </a:rPr>
              <a:t>SPREAD INFORMATION</a:t>
            </a:r>
          </a:p>
        </p:txBody>
      </p:sp>
      <p:sp>
        <p:nvSpPr>
          <p:cNvPr id="5" name="text-c8otu1-68-278">
            <a:extLst xmlns:a="http://schemas.openxmlformats.org/drawingml/2006/main">
              <a:ext uri="{FF2B5EF4-FFF2-40B4-BE49-F238E27FC236}">
                <a16:creationId xmlns:a16="http://schemas.microsoft.com/office/drawing/2014/main" id="{F53223C0-47DE-42BA-807C-BF1AD662649C}"/>
              </a:ext>
            </a:extLst>
          </p:cNvPr>
          <p:cNvSpPr>
            <a:spLocks xmlns:a="http://schemas.openxmlformats.org/drawingml/2006/main" noGrp="1"/>
          </p:cNvSpPr>
          <p:nvPr/>
        </p:nvSpPr>
        <p:spPr>
          <a:xfrm xmlns:a="http://schemas.openxmlformats.org/drawingml/2006/main">
            <a:off x="647700" y="2647950"/>
            <a:ext cx="4905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3445"/>
                </a:solidFill>
                <a:latin typeface="Helvetica Neue"/>
                <a:ea typeface="Helvetica Neue"/>
                <a:cs typeface="Helvetica Neue"/>
              </a:defRPr>
            </a:pPr>
            <a:r>
              <a:rPr sz="3000" b="1">
                <a:solidFill>
                  <a:srgbClr val="203445"/>
                </a:solidFill>
                <a:latin typeface="Helvetica Neue"/>
                <a:ea typeface="Helvetica Neue"/>
                <a:cs typeface="Helvetica Neue"/>
              </a:rPr>
              <a:t>Influence seeds</a:t>
            </a:r>
          </a:p>
        </p:txBody>
      </p:sp>
      <p:sp>
        <p:nvSpPr>
          <p:cNvPr id="6" name="text-c8otu1-68-366">
            <a:extLst xmlns:a="http://schemas.openxmlformats.org/drawingml/2006/main">
              <a:ext uri="{FF2B5EF4-FFF2-40B4-BE49-F238E27FC236}">
                <a16:creationId xmlns:a16="http://schemas.microsoft.com/office/drawing/2014/main" id="{5A126A50-1497-4C12-8734-883BCB83831C}"/>
              </a:ext>
            </a:extLst>
          </p:cNvPr>
          <p:cNvSpPr>
            <a:spLocks xmlns:a="http://schemas.openxmlformats.org/drawingml/2006/main" noGrp="1"/>
          </p:cNvSpPr>
          <p:nvPr/>
        </p:nvSpPr>
        <p:spPr>
          <a:xfrm xmlns:a="http://schemas.openxmlformats.org/drawingml/2006/main">
            <a:off x="647700" y="348615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3445"/>
                </a:solidFill>
                <a:latin typeface="Helvetica Neue"/>
                <a:ea typeface="Helvetica Neue"/>
                <a:cs typeface="Helvetica Neue"/>
              </a:defRPr>
            </a:pPr>
            <a:r>
              <a:rPr sz="2250" b="0">
                <a:solidFill>
                  <a:srgbClr val="203445"/>
                </a:solidFill>
                <a:latin typeface="Helvetica Neue"/>
                <a:ea typeface="Helvetica Neue"/>
                <a:cs typeface="Helvetica Neue"/>
              </a:rPr>
              <a:t>Choose users from whom a message</a:t>
            </a:r>
          </a:p>
          <a:p xmlns:a="http://schemas.openxmlformats.org/drawingml/2006/main">
            <a:pPr>
              <a:defRPr sz="2250" b="0">
                <a:solidFill>
                  <a:srgbClr val="203445"/>
                </a:solidFill>
                <a:latin typeface="Helvetica Neue"/>
                <a:ea typeface="Helvetica Neue"/>
                <a:cs typeface="Helvetica Neue"/>
              </a:defRPr>
            </a:pPr>
            <a:r>
              <a:rPr sz="2250" b="0">
                <a:solidFill>
                  <a:srgbClr val="203445"/>
                </a:solidFill>
                <a:latin typeface="Helvetica Neue"/>
                <a:ea typeface="Helvetica Neue"/>
                <a:cs typeface="Helvetica Neue"/>
              </a:rPr>
              <a:t>could reach the most people.</a:t>
            </a:r>
          </a:p>
        </p:txBody>
      </p:sp>
      <p:sp>
        <p:nvSpPr>
          <p:cNvPr id="7" name="text-c8otu1-682-222">
            <a:extLst xmlns:a="http://schemas.openxmlformats.org/drawingml/2006/main">
              <a:ext uri="{FF2B5EF4-FFF2-40B4-BE49-F238E27FC236}">
                <a16:creationId xmlns:a16="http://schemas.microsoft.com/office/drawing/2014/main" id="{BFC1A0F7-819F-44E3-AB3B-36CCA490C376}"/>
              </a:ext>
            </a:extLst>
          </p:cNvPr>
          <p:cNvSpPr>
            <a:spLocks xmlns:a="http://schemas.openxmlformats.org/drawingml/2006/main" noGrp="1"/>
          </p:cNvSpPr>
          <p:nvPr/>
        </p:nvSpPr>
        <p:spPr>
          <a:xfrm xmlns:a="http://schemas.openxmlformats.org/drawingml/2006/main">
            <a:off x="6496050" y="211455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575"/>
                </a:solidFill>
                <a:latin typeface="Helvetica Neue"/>
                <a:ea typeface="Helvetica Neue"/>
                <a:cs typeface="Helvetica Neue"/>
              </a:defRPr>
            </a:pPr>
            <a:r>
              <a:rPr sz="1725" b="1">
                <a:solidFill>
                  <a:srgbClr val="168575"/>
                </a:solidFill>
                <a:latin typeface="Helvetica Neue"/>
                <a:ea typeface="Helvetica Neue"/>
                <a:cs typeface="Helvetica Neue"/>
              </a:rPr>
              <a:t>OBSERVE DISCUSSIONS</a:t>
            </a:r>
          </a:p>
        </p:txBody>
      </p:sp>
      <p:sp>
        <p:nvSpPr>
          <p:cNvPr id="8" name="text-c8otu1-682-278">
            <a:extLst xmlns:a="http://schemas.openxmlformats.org/drawingml/2006/main">
              <a:ext uri="{FF2B5EF4-FFF2-40B4-BE49-F238E27FC236}">
                <a16:creationId xmlns:a16="http://schemas.microsoft.com/office/drawing/2014/main" id="{5206C72B-788C-4B57-AE54-66DDC6070895}"/>
              </a:ext>
            </a:extLst>
          </p:cNvPr>
          <p:cNvSpPr>
            <a:spLocks xmlns:a="http://schemas.openxmlformats.org/drawingml/2006/main" noGrp="1"/>
          </p:cNvSpPr>
          <p:nvPr/>
        </p:nvSpPr>
        <p:spPr>
          <a:xfrm xmlns:a="http://schemas.openxmlformats.org/drawingml/2006/main">
            <a:off x="6496050" y="2647950"/>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3445"/>
                </a:solidFill>
                <a:latin typeface="Helvetica Neue"/>
                <a:ea typeface="Helvetica Neue"/>
                <a:cs typeface="Helvetica Neue"/>
              </a:defRPr>
            </a:pPr>
            <a:r>
              <a:rPr sz="3000" b="1">
                <a:solidFill>
                  <a:srgbClr val="203445"/>
                </a:solidFill>
                <a:latin typeface="Helvetica Neue"/>
                <a:ea typeface="Helvetica Neue"/>
                <a:cs typeface="Helvetica Neue"/>
              </a:rPr>
              <a:t>Detection sensors</a:t>
            </a:r>
          </a:p>
        </p:txBody>
      </p:sp>
      <p:sp>
        <p:nvSpPr>
          <p:cNvPr id="9" name="text-c8otu1-682-366">
            <a:extLst xmlns:a="http://schemas.openxmlformats.org/drawingml/2006/main">
              <a:ext uri="{FF2B5EF4-FFF2-40B4-BE49-F238E27FC236}">
                <a16:creationId xmlns:a16="http://schemas.microsoft.com/office/drawing/2014/main" id="{29D07CCD-FEF5-4BBD-B105-A5076BC748FC}"/>
              </a:ext>
            </a:extLst>
          </p:cNvPr>
          <p:cNvSpPr>
            <a:spLocks xmlns:a="http://schemas.openxmlformats.org/drawingml/2006/main" noGrp="1"/>
          </p:cNvSpPr>
          <p:nvPr/>
        </p:nvSpPr>
        <p:spPr>
          <a:xfrm xmlns:a="http://schemas.openxmlformats.org/drawingml/2006/main">
            <a:off x="6496050" y="348615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3445"/>
                </a:solidFill>
                <a:latin typeface="Helvetica Neue"/>
                <a:ea typeface="Helvetica Neue"/>
                <a:cs typeface="Helvetica Neue"/>
              </a:defRPr>
            </a:pPr>
            <a:r>
              <a:rPr sz="2250" b="0">
                <a:solidFill>
                  <a:srgbClr val="203445"/>
                </a:solidFill>
                <a:latin typeface="Helvetica Neue"/>
                <a:ea typeface="Helvetica Neue"/>
                <a:cs typeface="Helvetica Neue"/>
              </a:rPr>
              <a:t>Choose users whose participation</a:t>
            </a:r>
          </a:p>
          <a:p xmlns:a="http://schemas.openxmlformats.org/drawingml/2006/main">
            <a:pPr>
              <a:defRPr sz="2250" b="0">
                <a:solidFill>
                  <a:srgbClr val="203445"/>
                </a:solidFill>
                <a:latin typeface="Helvetica Neue"/>
                <a:ea typeface="Helvetica Neue"/>
                <a:cs typeface="Helvetica Neue"/>
              </a:defRPr>
            </a:pPr>
            <a:r>
              <a:rPr sz="2250" b="0">
                <a:solidFill>
                  <a:srgbClr val="203445"/>
                </a:solidFill>
                <a:latin typeface="Helvetica Neue"/>
                <a:ea typeface="Helvetica Neue"/>
                <a:cs typeface="Helvetica Neue"/>
              </a:rPr>
              <a:t>reveals important discussions early.</a:t>
            </a:r>
          </a:p>
        </p:txBody>
      </p:sp>
      <p:sp>
        <p:nvSpPr>
          <p:cNvPr id="10" name="text-c8otu1-68-568">
            <a:extLst xmlns:a="http://schemas.openxmlformats.org/drawingml/2006/main">
              <a:ext uri="{FF2B5EF4-FFF2-40B4-BE49-F238E27FC236}">
                <a16:creationId xmlns:a16="http://schemas.microsoft.com/office/drawing/2014/main" id="{9EAE27D8-F6C8-4C36-AA97-D707A9B93C00}"/>
              </a:ext>
            </a:extLst>
          </p:cNvPr>
          <p:cNvSpPr>
            <a:spLocks xmlns:a="http://schemas.openxmlformats.org/drawingml/2006/main" noGrp="1"/>
          </p:cNvSpPr>
          <p:nvPr/>
        </p:nvSpPr>
        <p:spPr>
          <a:xfrm xmlns:a="http://schemas.openxmlformats.org/drawingml/2006/main">
            <a:off x="64770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575"/>
                </a:solidFill>
                <a:latin typeface="Helvetica Neue"/>
                <a:ea typeface="Helvetica Neue"/>
                <a:cs typeface="Helvetica Neue"/>
              </a:defRPr>
            </a:pPr>
            <a:r>
              <a:rPr sz="2175" b="1">
                <a:solidFill>
                  <a:srgbClr val="168575"/>
                </a:solidFill>
                <a:latin typeface="Helvetica Neue"/>
                <a:ea typeface="Helvetica Neue"/>
                <a:cs typeface="Helvetica Neue"/>
              </a:rPr>
              <a:t>CELF selects a complementary set by the value of each additional user.</a:t>
            </a:r>
          </a:p>
        </p:txBody>
      </p:sp>
    </p:spTree>
    <p:extLst>
      <p:ext uri="{BB962C8B-B14F-4D97-AF65-F5344CB8AC3E}">
        <p14:creationId xmlns:p14="http://schemas.microsoft.com/office/powerpoint/2010/main" val="626975987"/>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2" name="text-ik6u0s-64-42">
            <a:extLst xmlns:a="http://schemas.openxmlformats.org/drawingml/2006/main">
              <a:ext uri="{FF2B5EF4-FFF2-40B4-BE49-F238E27FC236}">
                <a16:creationId xmlns:a16="http://schemas.microsoft.com/office/drawing/2014/main" id="{EFB4E9F4-67C5-4E51-9D56-60B11B902036}"/>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The Hacker News reply network</a:t>
            </a:r>
          </a:p>
        </p:txBody>
      </p:sp>
      <p:sp>
        <p:nvSpPr>
          <p:cNvPr id="2" name="text-ik6u0s-66-113">
            <a:extLst xmlns:a="http://schemas.openxmlformats.org/drawingml/2006/main">
              <a:ext uri="{FF2B5EF4-FFF2-40B4-BE49-F238E27FC236}">
                <a16:creationId xmlns:a16="http://schemas.microsoft.com/office/drawing/2014/main" id="{828B394A-F078-42E8-BA44-9E4CE6AE0694}"/>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Observed replies provide both a graph and discussion timestamps</a:t>
            </a:r>
          </a:p>
        </p:txBody>
      </p:sp>
      <p:sp>
        <p:nvSpPr>
          <p:cNvPr id="3" name="text-ik6u0s-1180-673">
            <a:extLst xmlns:a="http://schemas.openxmlformats.org/drawingml/2006/main">
              <a:ext uri="{FF2B5EF4-FFF2-40B4-BE49-F238E27FC236}">
                <a16:creationId xmlns:a16="http://schemas.microsoft.com/office/drawing/2014/main" id="{8A806EAD-781C-4CE4-88AA-3660A453FAEE}"/>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03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7530ead19ec4031"/>
          <a:stretch xmlns:a="http://schemas.openxmlformats.org/drawingml/2006/main"/>
        </p:blipFill>
        <p:spPr>
          <a:xfrm xmlns:a="http://schemas.openxmlformats.org/drawingml/2006/main">
            <a:off x="6571043" y="1590675"/>
            <a:ext cx="4669663" cy="4667250"/>
          </a:xfrm>
          <a:prstGeom xmlns:a="http://schemas.openxmlformats.org/drawingml/2006/main" prst="rect">
            <a:avLst/>
          </a:prstGeom>
        </p:spPr>
      </p:pic>
      <p:sp>
        <p:nvSpPr>
          <p:cNvPr id="5" name="text-ik6u0s-68-192">
            <a:extLst xmlns:a="http://schemas.openxmlformats.org/drawingml/2006/main">
              <a:ext uri="{FF2B5EF4-FFF2-40B4-BE49-F238E27FC236}">
                <a16:creationId xmlns:a16="http://schemas.microsoft.com/office/drawing/2014/main" id="{24804D9E-3D2C-4555-BF0B-A13F5CC15841}"/>
              </a:ext>
            </a:extLst>
          </p:cNvPr>
          <p:cNvSpPr>
            <a:spLocks xmlns:a="http://schemas.openxmlformats.org/drawingml/2006/main" noGrp="1"/>
          </p:cNvSpPr>
          <p:nvPr/>
        </p:nvSpPr>
        <p:spPr>
          <a:xfrm xmlns:a="http://schemas.openxmlformats.org/drawingml/2006/main">
            <a:off x="647700" y="182880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68575"/>
                </a:solidFill>
                <a:latin typeface="Helvetica Neue"/>
                <a:ea typeface="Helvetica Neue"/>
                <a:cs typeface="Helvetica Neue"/>
              </a:defRPr>
            </a:pPr>
            <a:r>
              <a:rPr sz="4800" b="1">
                <a:solidFill>
                  <a:srgbClr val="168575"/>
                </a:solidFill>
                <a:latin typeface="Helvetica Neue"/>
                <a:ea typeface="Helvetica Neue"/>
                <a:cs typeface="Helvetica Neue"/>
              </a:rPr>
              <a:t>6,434</a:t>
            </a:r>
          </a:p>
        </p:txBody>
      </p:sp>
      <p:sp>
        <p:nvSpPr>
          <p:cNvPr id="6" name="text-ik6u0s-70-272">
            <a:extLst xmlns:a="http://schemas.openxmlformats.org/drawingml/2006/main">
              <a:ext uri="{FF2B5EF4-FFF2-40B4-BE49-F238E27FC236}">
                <a16:creationId xmlns:a16="http://schemas.microsoft.com/office/drawing/2014/main" id="{E608C7D8-E5F8-4524-BC22-E05004C8000C}"/>
              </a:ext>
            </a:extLst>
          </p:cNvPr>
          <p:cNvSpPr>
            <a:spLocks xmlns:a="http://schemas.openxmlformats.org/drawingml/2006/main" noGrp="1"/>
          </p:cNvSpPr>
          <p:nvPr/>
        </p:nvSpPr>
        <p:spPr>
          <a:xfrm xmlns:a="http://schemas.openxmlformats.org/drawingml/2006/main">
            <a:off x="666750" y="25908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445"/>
                </a:solidFill>
                <a:latin typeface="Helvetica Neue"/>
                <a:ea typeface="Helvetica Neue"/>
                <a:cs typeface="Helvetica Neue"/>
              </a:defRPr>
            </a:pPr>
            <a:r>
              <a:rPr sz="1875" b="0">
                <a:solidFill>
                  <a:srgbClr val="203445"/>
                </a:solidFill>
                <a:latin typeface="Helvetica Neue"/>
                <a:ea typeface="Helvetica Neue"/>
                <a:cs typeface="Helvetica Neue"/>
              </a:rPr>
              <a:t>users</a:t>
            </a:r>
          </a:p>
        </p:txBody>
      </p:sp>
      <p:sp>
        <p:nvSpPr>
          <p:cNvPr id="7" name="text-ik6u0s-68-324">
            <a:extLst xmlns:a="http://schemas.openxmlformats.org/drawingml/2006/main">
              <a:ext uri="{FF2B5EF4-FFF2-40B4-BE49-F238E27FC236}">
                <a16:creationId xmlns:a16="http://schemas.microsoft.com/office/drawing/2014/main" id="{FCBFA9FD-1B3F-45FA-8980-47EAC2B6EA51}"/>
              </a:ext>
            </a:extLst>
          </p:cNvPr>
          <p:cNvSpPr>
            <a:spLocks xmlns:a="http://schemas.openxmlformats.org/drawingml/2006/main" noGrp="1"/>
          </p:cNvSpPr>
          <p:nvPr/>
        </p:nvSpPr>
        <p:spPr>
          <a:xfrm xmlns:a="http://schemas.openxmlformats.org/drawingml/2006/main">
            <a:off x="647700" y="308610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68575"/>
                </a:solidFill>
                <a:latin typeface="Helvetica Neue"/>
                <a:ea typeface="Helvetica Neue"/>
                <a:cs typeface="Helvetica Neue"/>
              </a:defRPr>
            </a:pPr>
            <a:r>
              <a:rPr sz="4800" b="1">
                <a:solidFill>
                  <a:srgbClr val="168575"/>
                </a:solidFill>
                <a:latin typeface="Helvetica Neue"/>
                <a:ea typeface="Helvetica Neue"/>
                <a:cs typeface="Helvetica Neue"/>
              </a:rPr>
              <a:t>259,122</a:t>
            </a:r>
          </a:p>
        </p:txBody>
      </p:sp>
      <p:sp>
        <p:nvSpPr>
          <p:cNvPr id="8" name="text-ik6u0s-70-404">
            <a:extLst xmlns:a="http://schemas.openxmlformats.org/drawingml/2006/main">
              <a:ext uri="{FF2B5EF4-FFF2-40B4-BE49-F238E27FC236}">
                <a16:creationId xmlns:a16="http://schemas.microsoft.com/office/drawing/2014/main" id="{CB2B046A-30B6-4ACF-B337-FB81E653188E}"/>
              </a:ext>
            </a:extLst>
          </p:cNvPr>
          <p:cNvSpPr>
            <a:spLocks xmlns:a="http://schemas.openxmlformats.org/drawingml/2006/main" noGrp="1"/>
          </p:cNvSpPr>
          <p:nvPr/>
        </p:nvSpPr>
        <p:spPr>
          <a:xfrm xmlns:a="http://schemas.openxmlformats.org/drawingml/2006/main">
            <a:off x="666750" y="38481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445"/>
                </a:solidFill>
                <a:latin typeface="Helvetica Neue"/>
                <a:ea typeface="Helvetica Neue"/>
                <a:cs typeface="Helvetica Neue"/>
              </a:defRPr>
            </a:pPr>
            <a:r>
              <a:rPr sz="1875" b="0">
                <a:solidFill>
                  <a:srgbClr val="203445"/>
                </a:solidFill>
                <a:latin typeface="Helvetica Neue"/>
                <a:ea typeface="Helvetica Neue"/>
                <a:cs typeface="Helvetica Neue"/>
              </a:rPr>
              <a:t>directed weighted edges</a:t>
            </a:r>
          </a:p>
        </p:txBody>
      </p:sp>
      <p:sp>
        <p:nvSpPr>
          <p:cNvPr id="9" name="text-ik6u0s-68-456">
            <a:extLst xmlns:a="http://schemas.openxmlformats.org/drawingml/2006/main">
              <a:ext uri="{FF2B5EF4-FFF2-40B4-BE49-F238E27FC236}">
                <a16:creationId xmlns:a16="http://schemas.microsoft.com/office/drawing/2014/main" id="{E4946416-D4C6-45A1-B2C6-3BD289E71387}"/>
              </a:ext>
            </a:extLst>
          </p:cNvPr>
          <p:cNvSpPr>
            <a:spLocks xmlns:a="http://schemas.openxmlformats.org/drawingml/2006/main" noGrp="1"/>
          </p:cNvSpPr>
          <p:nvPr/>
        </p:nvSpPr>
        <p:spPr>
          <a:xfrm xmlns:a="http://schemas.openxmlformats.org/drawingml/2006/main">
            <a:off x="647700" y="434340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68575"/>
                </a:solidFill>
                <a:latin typeface="Helvetica Neue"/>
                <a:ea typeface="Helvetica Neue"/>
                <a:cs typeface="Helvetica Neue"/>
              </a:defRPr>
            </a:pPr>
            <a:r>
              <a:rPr sz="4800" b="1">
                <a:solidFill>
                  <a:srgbClr val="168575"/>
                </a:solidFill>
                <a:latin typeface="Helvetica Neue"/>
                <a:ea typeface="Helvetica Neue"/>
                <a:cs typeface="Helvetica Neue"/>
              </a:rPr>
              <a:t>312,913</a:t>
            </a:r>
          </a:p>
        </p:txBody>
      </p:sp>
      <p:sp>
        <p:nvSpPr>
          <p:cNvPr id="10" name="text-ik6u0s-70-536">
            <a:extLst xmlns:a="http://schemas.openxmlformats.org/drawingml/2006/main">
              <a:ext uri="{FF2B5EF4-FFF2-40B4-BE49-F238E27FC236}">
                <a16:creationId xmlns:a16="http://schemas.microsoft.com/office/drawing/2014/main" id="{AD6346E4-84D1-4FBB-B2C8-6A2F47E248A6}"/>
              </a:ext>
            </a:extLst>
          </p:cNvPr>
          <p:cNvSpPr>
            <a:spLocks xmlns:a="http://schemas.openxmlformats.org/drawingml/2006/main" noGrp="1"/>
          </p:cNvSpPr>
          <p:nvPr/>
        </p:nvSpPr>
        <p:spPr>
          <a:xfrm xmlns:a="http://schemas.openxmlformats.org/drawingml/2006/main">
            <a:off x="666750" y="51054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3445"/>
                </a:solidFill>
                <a:latin typeface="Helvetica Neue"/>
                <a:ea typeface="Helvetica Neue"/>
                <a:cs typeface="Helvetica Neue"/>
              </a:defRPr>
            </a:pPr>
            <a:r>
              <a:rPr sz="1875" b="0">
                <a:solidFill>
                  <a:srgbClr val="203445"/>
                </a:solidFill>
                <a:latin typeface="Helvetica Neue"/>
                <a:ea typeface="Helvetica Neue"/>
                <a:cs typeface="Helvetica Neue"/>
              </a:rPr>
              <a:t>retained reply records</a:t>
            </a:r>
          </a:p>
        </p:txBody>
      </p:sp>
      <p:sp>
        <p:nvSpPr>
          <p:cNvPr id="11" name="text-ik6u0s-68-624">
            <a:extLst xmlns:a="http://schemas.openxmlformats.org/drawingml/2006/main">
              <a:ext uri="{FF2B5EF4-FFF2-40B4-BE49-F238E27FC236}">
                <a16:creationId xmlns:a16="http://schemas.microsoft.com/office/drawing/2014/main" id="{8A702208-5068-4469-B032-ED844D4124B4}"/>
              </a:ext>
            </a:extLst>
          </p:cNvPr>
          <p:cNvSpPr>
            <a:spLocks xmlns:a="http://schemas.openxmlformats.org/drawingml/2006/main" noGrp="1"/>
          </p:cNvSpPr>
          <p:nvPr/>
        </p:nvSpPr>
        <p:spPr>
          <a:xfrm xmlns:a="http://schemas.openxmlformats.org/drawingml/2006/main">
            <a:off x="647700" y="59436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9"/>
                </a:solidFill>
                <a:latin typeface="Helvetica Neue"/>
                <a:ea typeface="Helvetica Neue"/>
                <a:cs typeface="Helvetica Neue"/>
              </a:defRPr>
            </a:pPr>
            <a:r>
              <a:rPr sz="1575" b="0">
                <a:solidFill>
                  <a:srgbClr val="526879"/>
                </a:solidFill>
                <a:latin typeface="Helvetica Neue"/>
                <a:ea typeface="Helvetica Neue"/>
                <a:cs typeface="Helvetica Neue"/>
              </a:rPr>
              <a:t>Parent author to replier. Edge weight counts replies.</a:t>
            </a:r>
          </a:p>
        </p:txBody>
      </p:sp>
    </p:spTree>
    <p:extLst>
      <p:ext uri="{BB962C8B-B14F-4D97-AF65-F5344CB8AC3E}">
        <p14:creationId xmlns:p14="http://schemas.microsoft.com/office/powerpoint/2010/main" val="1651371357"/>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6" name="text-cot1f5-64-42">
            <a:extLst xmlns:a="http://schemas.openxmlformats.org/drawingml/2006/main">
              <a:ext uri="{FF2B5EF4-FFF2-40B4-BE49-F238E27FC236}">
                <a16:creationId xmlns:a16="http://schemas.microsoft.com/office/drawing/2014/main" id="{E7BF36FF-645E-4BBC-BE18-844575F5D8DA}"/>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Our approach</a:t>
            </a:r>
          </a:p>
        </p:txBody>
      </p:sp>
      <p:sp>
        <p:nvSpPr>
          <p:cNvPr id="2" name="text-cot1f5-66-113">
            <a:extLst xmlns:a="http://schemas.openxmlformats.org/drawingml/2006/main">
              <a:ext uri="{FF2B5EF4-FFF2-40B4-BE49-F238E27FC236}">
                <a16:creationId xmlns:a16="http://schemas.microsoft.com/office/drawing/2014/main" id="{365BE56A-B16D-4891-9C81-A573D7B407BC}"/>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A discussion counts as significant at 10 distinct retained repliers</a:t>
            </a:r>
          </a:p>
        </p:txBody>
      </p:sp>
      <p:sp>
        <p:nvSpPr>
          <p:cNvPr id="3" name="text-cot1f5-1180-673">
            <a:extLst xmlns:a="http://schemas.openxmlformats.org/drawingml/2006/main">
              <a:ext uri="{FF2B5EF4-FFF2-40B4-BE49-F238E27FC236}">
                <a16:creationId xmlns:a16="http://schemas.microsoft.com/office/drawing/2014/main" id="{7F9B7E94-9647-41D2-A8EA-28910E106BD4}"/>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04</a:t>
            </a:r>
          </a:p>
        </p:txBody>
      </p:sp>
      <p:sp>
        <p:nvSpPr>
          <p:cNvPr id="4" name="text-cot1f5-70-191">
            <a:extLst xmlns:a="http://schemas.openxmlformats.org/drawingml/2006/main">
              <a:ext uri="{FF2B5EF4-FFF2-40B4-BE49-F238E27FC236}">
                <a16:creationId xmlns:a16="http://schemas.microsoft.com/office/drawing/2014/main" id="{CF8BAF8E-30BB-45BE-A3B8-D33B16F11D71}"/>
              </a:ext>
            </a:extLst>
          </p:cNvPr>
          <p:cNvSpPr>
            <a:spLocks xmlns:a="http://schemas.openxmlformats.org/drawingml/2006/main" noGrp="1"/>
          </p:cNvSpPr>
          <p:nvPr/>
        </p:nvSpPr>
        <p:spPr>
          <a:xfrm xmlns:a="http://schemas.openxmlformats.org/drawingml/2006/main">
            <a:off x="666750" y="1819275"/>
            <a:ext cx="83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8575"/>
                </a:solidFill>
                <a:latin typeface="Helvetica Neue"/>
                <a:ea typeface="Helvetica Neue"/>
                <a:cs typeface="Helvetica Neue"/>
              </a:defRPr>
            </a:pPr>
            <a:r>
              <a:rPr sz="3000" b="1">
                <a:solidFill>
                  <a:srgbClr val="168575"/>
                </a:solidFill>
                <a:latin typeface="Helvetica Neue"/>
                <a:ea typeface="Helvetica Neue"/>
                <a:cs typeface="Helvetica Neue"/>
              </a:rPr>
              <a:t>01</a:t>
            </a:r>
          </a:p>
        </p:txBody>
      </p:sp>
      <p:sp>
        <p:nvSpPr>
          <p:cNvPr id="5" name="text-cot1f5-184-191">
            <a:extLst xmlns:a="http://schemas.openxmlformats.org/drawingml/2006/main">
              <a:ext uri="{FF2B5EF4-FFF2-40B4-BE49-F238E27FC236}">
                <a16:creationId xmlns:a16="http://schemas.microsoft.com/office/drawing/2014/main" id="{244B5789-6F2D-46DC-883D-6B08A5C0EB47}"/>
              </a:ext>
            </a:extLst>
          </p:cNvPr>
          <p:cNvSpPr>
            <a:spLocks xmlns:a="http://schemas.openxmlformats.org/drawingml/2006/main" noGrp="1"/>
          </p:cNvSpPr>
          <p:nvPr/>
        </p:nvSpPr>
        <p:spPr>
          <a:xfrm xmlns:a="http://schemas.openxmlformats.org/drawingml/2006/main">
            <a:off x="1752600" y="18192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445"/>
                </a:solidFill>
                <a:latin typeface="Helvetica Neue"/>
                <a:ea typeface="Helvetica Neue"/>
                <a:cs typeface="Helvetica Neue"/>
              </a:defRPr>
            </a:pPr>
            <a:r>
              <a:rPr sz="2175" b="1">
                <a:solidFill>
                  <a:srgbClr val="203445"/>
                </a:solidFill>
                <a:latin typeface="Helvetica Neue"/>
                <a:ea typeface="Helvetica Neue"/>
                <a:cs typeface="Helvetica Neue"/>
              </a:rPr>
              <a:t>Build the benchmark</a:t>
            </a:r>
          </a:p>
        </p:txBody>
      </p:sp>
      <p:sp>
        <p:nvSpPr>
          <p:cNvPr id="6" name="text-cot1f5-184-237">
            <a:extLst xmlns:a="http://schemas.openxmlformats.org/drawingml/2006/main">
              <a:ext uri="{FF2B5EF4-FFF2-40B4-BE49-F238E27FC236}">
                <a16:creationId xmlns:a16="http://schemas.microsoft.com/office/drawing/2014/main" id="{40B5534A-C009-4CB1-9B96-55BFE0271D29}"/>
              </a:ext>
            </a:extLst>
          </p:cNvPr>
          <p:cNvSpPr>
            <a:spLocks xmlns:a="http://schemas.openxmlformats.org/drawingml/2006/main" noGrp="1"/>
          </p:cNvSpPr>
          <p:nvPr/>
        </p:nvSpPr>
        <p:spPr>
          <a:xfrm xmlns:a="http://schemas.openxmlformats.org/drawingml/2006/main">
            <a:off x="1752600" y="2257425"/>
            <a:ext cx="942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79"/>
                </a:solidFill>
                <a:latin typeface="Helvetica Neue"/>
                <a:ea typeface="Helvetica Neue"/>
                <a:cs typeface="Helvetica Neue"/>
              </a:defRPr>
            </a:pPr>
            <a:r>
              <a:rPr sz="1875" b="0">
                <a:solidFill>
                  <a:srgbClr val="526879"/>
                </a:solidFill>
                <a:latin typeface="Helvetica Neue"/>
                <a:ea typeface="Helvetica Neue"/>
                <a:cs typeface="Helvetica Neue"/>
              </a:rPr>
              <a:t>3,418 significant observed discussions</a:t>
            </a:r>
          </a:p>
        </p:txBody>
      </p:sp>
      <p:sp>
        <p:nvSpPr>
          <p:cNvPr id="7" name="text-cot1f5-70-299">
            <a:extLst xmlns:a="http://schemas.openxmlformats.org/drawingml/2006/main">
              <a:ext uri="{FF2B5EF4-FFF2-40B4-BE49-F238E27FC236}">
                <a16:creationId xmlns:a16="http://schemas.microsoft.com/office/drawing/2014/main" id="{0413BC5D-FD6B-418A-8126-F25F5DBC6FDD}"/>
              </a:ext>
            </a:extLst>
          </p:cNvPr>
          <p:cNvSpPr>
            <a:spLocks xmlns:a="http://schemas.openxmlformats.org/drawingml/2006/main" noGrp="1"/>
          </p:cNvSpPr>
          <p:nvPr/>
        </p:nvSpPr>
        <p:spPr>
          <a:xfrm xmlns:a="http://schemas.openxmlformats.org/drawingml/2006/main">
            <a:off x="666750" y="2847975"/>
            <a:ext cx="83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8575"/>
                </a:solidFill>
                <a:latin typeface="Helvetica Neue"/>
                <a:ea typeface="Helvetica Neue"/>
                <a:cs typeface="Helvetica Neue"/>
              </a:defRPr>
            </a:pPr>
            <a:r>
              <a:rPr sz="3000" b="1">
                <a:solidFill>
                  <a:srgbClr val="168575"/>
                </a:solidFill>
                <a:latin typeface="Helvetica Neue"/>
                <a:ea typeface="Helvetica Neue"/>
                <a:cs typeface="Helvetica Neue"/>
              </a:rPr>
              <a:t>02</a:t>
            </a:r>
          </a:p>
        </p:txBody>
      </p:sp>
      <p:sp>
        <p:nvSpPr>
          <p:cNvPr id="8" name="text-cot1f5-184-299">
            <a:extLst xmlns:a="http://schemas.openxmlformats.org/drawingml/2006/main">
              <a:ext uri="{FF2B5EF4-FFF2-40B4-BE49-F238E27FC236}">
                <a16:creationId xmlns:a16="http://schemas.microsoft.com/office/drawing/2014/main" id="{AF412197-7F96-4192-A66C-38F2BDD9716F}"/>
              </a:ext>
            </a:extLst>
          </p:cNvPr>
          <p:cNvSpPr>
            <a:spLocks xmlns:a="http://schemas.openxmlformats.org/drawingml/2006/main" noGrp="1"/>
          </p:cNvSpPr>
          <p:nvPr/>
        </p:nvSpPr>
        <p:spPr>
          <a:xfrm xmlns:a="http://schemas.openxmlformats.org/drawingml/2006/main">
            <a:off x="1752600" y="28479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445"/>
                </a:solidFill>
                <a:latin typeface="Helvetica Neue"/>
                <a:ea typeface="Helvetica Neue"/>
                <a:cs typeface="Helvetica Neue"/>
              </a:defRPr>
            </a:pPr>
            <a:r>
              <a:rPr sz="2175" b="1">
                <a:solidFill>
                  <a:srgbClr val="203445"/>
                </a:solidFill>
                <a:latin typeface="Helvetica Neue"/>
                <a:ea typeface="Helvetica Neue"/>
                <a:cs typeface="Helvetica Neue"/>
              </a:rPr>
              <a:t>Measure first arrivals</a:t>
            </a:r>
          </a:p>
        </p:txBody>
      </p:sp>
      <p:sp>
        <p:nvSpPr>
          <p:cNvPr id="9" name="text-cot1f5-184-345">
            <a:extLst xmlns:a="http://schemas.openxmlformats.org/drawingml/2006/main">
              <a:ext uri="{FF2B5EF4-FFF2-40B4-BE49-F238E27FC236}">
                <a16:creationId xmlns:a16="http://schemas.microsoft.com/office/drawing/2014/main" id="{C9038EB7-EEC0-4997-97AB-E2C3E552B265}"/>
              </a:ext>
            </a:extLst>
          </p:cNvPr>
          <p:cNvSpPr>
            <a:spLocks xmlns:a="http://schemas.openxmlformats.org/drawingml/2006/main" noGrp="1"/>
          </p:cNvSpPr>
          <p:nvPr/>
        </p:nvSpPr>
        <p:spPr>
          <a:xfrm xmlns:a="http://schemas.openxmlformats.org/drawingml/2006/main">
            <a:off x="1752600" y="3286125"/>
            <a:ext cx="942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79"/>
                </a:solidFill>
                <a:latin typeface="Helvetica Neue"/>
                <a:ea typeface="Helvetica Neue"/>
                <a:cs typeface="Helvetica Neue"/>
              </a:defRPr>
            </a:pPr>
            <a:r>
              <a:rPr sz="1875" b="0">
                <a:solidFill>
                  <a:srgbClr val="526879"/>
                </a:solidFill>
                <a:latin typeface="Helvetica Neue"/>
                <a:ea typeface="Helvetica Neue"/>
                <a:cs typeface="Helvetica Neue"/>
              </a:rPr>
              <a:t>Time each user’s earliest retained reply</a:t>
            </a:r>
          </a:p>
        </p:txBody>
      </p:sp>
      <p:sp>
        <p:nvSpPr>
          <p:cNvPr id="10" name="text-cot1f5-70-407">
            <a:extLst xmlns:a="http://schemas.openxmlformats.org/drawingml/2006/main">
              <a:ext uri="{FF2B5EF4-FFF2-40B4-BE49-F238E27FC236}">
                <a16:creationId xmlns:a16="http://schemas.microsoft.com/office/drawing/2014/main" id="{1729EBF7-B128-4F72-9BDD-8A97D5A1AE8C}"/>
              </a:ext>
            </a:extLst>
          </p:cNvPr>
          <p:cNvSpPr>
            <a:spLocks xmlns:a="http://schemas.openxmlformats.org/drawingml/2006/main" noGrp="1"/>
          </p:cNvSpPr>
          <p:nvPr/>
        </p:nvSpPr>
        <p:spPr>
          <a:xfrm xmlns:a="http://schemas.openxmlformats.org/drawingml/2006/main">
            <a:off x="666750" y="3876675"/>
            <a:ext cx="83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8575"/>
                </a:solidFill>
                <a:latin typeface="Helvetica Neue"/>
                <a:ea typeface="Helvetica Neue"/>
                <a:cs typeface="Helvetica Neue"/>
              </a:defRPr>
            </a:pPr>
            <a:r>
              <a:rPr sz="3000" b="1">
                <a:solidFill>
                  <a:srgbClr val="168575"/>
                </a:solidFill>
                <a:latin typeface="Helvetica Neue"/>
                <a:ea typeface="Helvetica Neue"/>
                <a:cs typeface="Helvetica Neue"/>
              </a:rPr>
              <a:t>03</a:t>
            </a:r>
          </a:p>
        </p:txBody>
      </p:sp>
      <p:sp>
        <p:nvSpPr>
          <p:cNvPr id="11" name="text-cot1f5-184-407">
            <a:extLst xmlns:a="http://schemas.openxmlformats.org/drawingml/2006/main">
              <a:ext uri="{FF2B5EF4-FFF2-40B4-BE49-F238E27FC236}">
                <a16:creationId xmlns:a16="http://schemas.microsoft.com/office/drawing/2014/main" id="{8C1FD9FE-C914-4AFA-8238-F1584AAD030F}"/>
              </a:ext>
            </a:extLst>
          </p:cNvPr>
          <p:cNvSpPr>
            <a:spLocks xmlns:a="http://schemas.openxmlformats.org/drawingml/2006/main" noGrp="1"/>
          </p:cNvSpPr>
          <p:nvPr/>
        </p:nvSpPr>
        <p:spPr>
          <a:xfrm xmlns:a="http://schemas.openxmlformats.org/drawingml/2006/main">
            <a:off x="1752600" y="38766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445"/>
                </a:solidFill>
                <a:latin typeface="Helvetica Neue"/>
                <a:ea typeface="Helvetica Neue"/>
                <a:cs typeface="Helvetica Neue"/>
              </a:defRPr>
            </a:pPr>
            <a:r>
              <a:rPr sz="2175" b="1">
                <a:solidFill>
                  <a:srgbClr val="203445"/>
                </a:solidFill>
                <a:latin typeface="Helvetica Neue"/>
                <a:ea typeface="Helvetica Neue"/>
                <a:cs typeface="Helvetica Neue"/>
              </a:rPr>
              <a:t>Select a sensor set</a:t>
            </a:r>
          </a:p>
        </p:txBody>
      </p:sp>
      <p:sp>
        <p:nvSpPr>
          <p:cNvPr id="12" name="text-cot1f5-184-453">
            <a:extLst xmlns:a="http://schemas.openxmlformats.org/drawingml/2006/main">
              <a:ext uri="{FF2B5EF4-FFF2-40B4-BE49-F238E27FC236}">
                <a16:creationId xmlns:a16="http://schemas.microsoft.com/office/drawing/2014/main" id="{21B77386-8D84-4402-A826-D0E31AC1298B}"/>
              </a:ext>
            </a:extLst>
          </p:cNvPr>
          <p:cNvSpPr>
            <a:spLocks xmlns:a="http://schemas.openxmlformats.org/drawingml/2006/main" noGrp="1"/>
          </p:cNvSpPr>
          <p:nvPr/>
        </p:nvSpPr>
        <p:spPr>
          <a:xfrm xmlns:a="http://schemas.openxmlformats.org/drawingml/2006/main">
            <a:off x="1752600" y="4314825"/>
            <a:ext cx="942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79"/>
                </a:solidFill>
                <a:latin typeface="Helvetica Neue"/>
                <a:ea typeface="Helvetica Neue"/>
                <a:cs typeface="Helvetica Neue"/>
              </a:defRPr>
            </a:pPr>
            <a:r>
              <a:rPr sz="1875" b="0">
                <a:solidFill>
                  <a:srgbClr val="526879"/>
                </a:solidFill>
                <a:latin typeface="Helvetica Neue"/>
                <a:ea typeface="Helvetica Neue"/>
                <a:cs typeface="Helvetica Neue"/>
              </a:rPr>
              <a:t>Reward new coverage and earlier detection</a:t>
            </a:r>
          </a:p>
        </p:txBody>
      </p:sp>
      <p:sp>
        <p:nvSpPr>
          <p:cNvPr id="13" name="text-cot1f5-70-515">
            <a:extLst xmlns:a="http://schemas.openxmlformats.org/drawingml/2006/main">
              <a:ext uri="{FF2B5EF4-FFF2-40B4-BE49-F238E27FC236}">
                <a16:creationId xmlns:a16="http://schemas.microsoft.com/office/drawing/2014/main" id="{1CE39CED-0B71-40F6-BB05-063A972AFEC4}"/>
              </a:ext>
            </a:extLst>
          </p:cNvPr>
          <p:cNvSpPr>
            <a:spLocks xmlns:a="http://schemas.openxmlformats.org/drawingml/2006/main" noGrp="1"/>
          </p:cNvSpPr>
          <p:nvPr/>
        </p:nvSpPr>
        <p:spPr>
          <a:xfrm xmlns:a="http://schemas.openxmlformats.org/drawingml/2006/main">
            <a:off x="666750" y="4905375"/>
            <a:ext cx="83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68575"/>
                </a:solidFill>
                <a:latin typeface="Helvetica Neue"/>
                <a:ea typeface="Helvetica Neue"/>
                <a:cs typeface="Helvetica Neue"/>
              </a:defRPr>
            </a:pPr>
            <a:r>
              <a:rPr sz="3000" b="1">
                <a:solidFill>
                  <a:srgbClr val="168575"/>
                </a:solidFill>
                <a:latin typeface="Helvetica Neue"/>
                <a:ea typeface="Helvetica Neue"/>
                <a:cs typeface="Helvetica Neue"/>
              </a:rPr>
              <a:t>04</a:t>
            </a:r>
          </a:p>
        </p:txBody>
      </p:sp>
      <p:sp>
        <p:nvSpPr>
          <p:cNvPr id="14" name="text-cot1f5-184-515">
            <a:extLst xmlns:a="http://schemas.openxmlformats.org/drawingml/2006/main">
              <a:ext uri="{FF2B5EF4-FFF2-40B4-BE49-F238E27FC236}">
                <a16:creationId xmlns:a16="http://schemas.microsoft.com/office/drawing/2014/main" id="{97F2A38A-13A3-4677-BA2F-9E598B3FC40E}"/>
              </a:ext>
            </a:extLst>
          </p:cNvPr>
          <p:cNvSpPr>
            <a:spLocks xmlns:a="http://schemas.openxmlformats.org/drawingml/2006/main" noGrp="1"/>
          </p:cNvSpPr>
          <p:nvPr/>
        </p:nvSpPr>
        <p:spPr>
          <a:xfrm xmlns:a="http://schemas.openxmlformats.org/drawingml/2006/main">
            <a:off x="1752600" y="49053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445"/>
                </a:solidFill>
                <a:latin typeface="Helvetica Neue"/>
                <a:ea typeface="Helvetica Neue"/>
                <a:cs typeface="Helvetica Neue"/>
              </a:defRPr>
            </a:pPr>
            <a:r>
              <a:rPr sz="2175" b="1">
                <a:solidFill>
                  <a:srgbClr val="203445"/>
                </a:solidFill>
                <a:latin typeface="Helvetica Neue"/>
                <a:ea typeface="Helvetica Neue"/>
                <a:cs typeface="Helvetica Neue"/>
              </a:rPr>
              <a:t>Compare at the same budget</a:t>
            </a:r>
          </a:p>
        </p:txBody>
      </p:sp>
      <p:sp>
        <p:nvSpPr>
          <p:cNvPr id="15" name="text-cot1f5-184-561">
            <a:extLst xmlns:a="http://schemas.openxmlformats.org/drawingml/2006/main">
              <a:ext uri="{FF2B5EF4-FFF2-40B4-BE49-F238E27FC236}">
                <a16:creationId xmlns:a16="http://schemas.microsoft.com/office/drawing/2014/main" id="{BADF8BA6-FBEA-4BE9-9E17-354249F629C2}"/>
              </a:ext>
            </a:extLst>
          </p:cNvPr>
          <p:cNvSpPr>
            <a:spLocks xmlns:a="http://schemas.openxmlformats.org/drawingml/2006/main" noGrp="1"/>
          </p:cNvSpPr>
          <p:nvPr/>
        </p:nvSpPr>
        <p:spPr>
          <a:xfrm xmlns:a="http://schemas.openxmlformats.org/drawingml/2006/main">
            <a:off x="1752600" y="5343525"/>
            <a:ext cx="942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79"/>
                </a:solidFill>
                <a:latin typeface="Helvetica Neue"/>
                <a:ea typeface="Helvetica Neue"/>
                <a:cs typeface="Helvetica Neue"/>
              </a:defRPr>
            </a:pPr>
            <a:r>
              <a:rPr sz="1875" b="0">
                <a:solidFill>
                  <a:srgbClr val="526879"/>
                </a:solidFill>
                <a:latin typeface="Helvetica Neue"/>
                <a:ea typeface="Helvetica Neue"/>
                <a:cs typeface="Helvetica Neue"/>
              </a:rPr>
              <a:t>CELF, Top-reach and random selection</a:t>
            </a:r>
          </a:p>
        </p:txBody>
      </p:sp>
    </p:spTree>
    <p:extLst>
      <p:ext uri="{BB962C8B-B14F-4D97-AF65-F5344CB8AC3E}">
        <p14:creationId xmlns:p14="http://schemas.microsoft.com/office/powerpoint/2010/main" val="1115345162"/>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9" name="text-pyzrwk-64-42">
            <a:extLst xmlns:a="http://schemas.openxmlformats.org/drawingml/2006/main">
              <a:ext uri="{FF2B5EF4-FFF2-40B4-BE49-F238E27FC236}">
                <a16:creationId xmlns:a16="http://schemas.microsoft.com/office/drawing/2014/main" id="{F80C76A9-29A5-4927-9509-E602A35CE6A7}"/>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How CELF chooses the next user</a:t>
            </a:r>
          </a:p>
        </p:txBody>
      </p:sp>
      <p:sp>
        <p:nvSpPr>
          <p:cNvPr id="2" name="text-pyzrwk-66-113">
            <a:extLst xmlns:a="http://schemas.openxmlformats.org/drawingml/2006/main">
              <a:ext uri="{FF2B5EF4-FFF2-40B4-BE49-F238E27FC236}">
                <a16:creationId xmlns:a16="http://schemas.microsoft.com/office/drawing/2014/main" id="{40563DB8-AF02-4A97-BC80-CD73F17D1938}"/>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Cost-Effective Lazy Forward selection</a:t>
            </a:r>
          </a:p>
        </p:txBody>
      </p:sp>
      <p:sp>
        <p:nvSpPr>
          <p:cNvPr id="3" name="text-pyzrwk-1180-673">
            <a:extLst xmlns:a="http://schemas.openxmlformats.org/drawingml/2006/main">
              <a:ext uri="{FF2B5EF4-FFF2-40B4-BE49-F238E27FC236}">
                <a16:creationId xmlns:a16="http://schemas.microsoft.com/office/drawing/2014/main" id="{B2599D1D-3FE5-41C0-90BC-20395AAF6302}"/>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05</a:t>
            </a:r>
          </a:p>
        </p:txBody>
      </p:sp>
      <p:graphicFrame>
        <p:nvGraphicFramePr>
          <p:cNvPr id="12" name=""/>
          <p:cNvGraphicFramePr/>
          <p:nvPr/>
        </p:nvGraphicFramePr>
        <p:xfrm>
          <a:off xmlns:a="http://schemas.openxmlformats.org/drawingml/2006/main" x="628650" y="1838325"/>
          <a:ext xmlns:a="http://schemas.openxmlformats.org/drawingml/2006/main" cx="7143750" cy="3028950"/>
        </p:xfrm>
        <a:graphic xmlns:a="http://schemas.openxmlformats.org/drawingml/2006/main">
          <a:graphicData uri="http://schemas.openxmlformats.org/drawingml/2006/table">
            <a:tbl>
              <a:tblPr/>
              <a:tblGrid>
                <a:gridCol w="1857375"/>
                <a:gridCol w="2190750"/>
                <a:gridCol w="3095625"/>
              </a:tblGrid>
              <a:tr h="757238">
                <a:tc>
                  <a:txBody>
                    <a:bodyPr/>
                    <a:lstStyle/>
                    <a:p>
                      <a:r>
                        <a:rPr sz="1800" b="1">
                          <a:solidFill>
                            <a:srgbClr val="FFFFFF"/>
                          </a:solidFill>
                          <a:latin typeface="Helvetica Neue"/>
                          <a:ea typeface="Helvetica Neue"/>
                          <a:cs typeface="Helvetica Neue"/>
                        </a:rPr>
                        <a:t>Candidate</a:t>
                      </a:r>
                    </a:p>
                  </a:txBody>
                  <a:tcPr marL="91440" marR="91440" marT="45720" marB="45720">
                    <a:solidFill>
                      <a:srgbClr val="122939"/>
                    </a:solidFill>
                  </a:tcPr>
                </a:tc>
                <a:tc>
                  <a:txBody>
                    <a:bodyPr/>
                    <a:lstStyle/>
                    <a:p>
                      <a:r>
                        <a:rPr sz="1800" b="1">
                          <a:solidFill>
                            <a:srgbClr val="FFFFFF"/>
                          </a:solidFill>
                          <a:latin typeface="Helvetica Neue"/>
                          <a:ea typeface="Helvetica Neue"/>
                          <a:cs typeface="Helvetica Neue"/>
                        </a:rPr>
                        <a:t>Alone</a:t>
                      </a:r>
                    </a:p>
                  </a:txBody>
                  <a:tcPr marL="91440" marR="91440" marT="45720" marB="45720">
                    <a:solidFill>
                      <a:srgbClr val="122939"/>
                    </a:solidFill>
                  </a:tcPr>
                </a:tc>
                <a:tc>
                  <a:txBody>
                    <a:bodyPr/>
                    <a:lstStyle/>
                    <a:p>
                      <a:r>
                        <a:rPr sz="1800" b="1">
                          <a:solidFill>
                            <a:srgbClr val="FFFFFF"/>
                          </a:solidFill>
                          <a:latin typeface="Helvetica Neue"/>
                          <a:ea typeface="Helvetica Neue"/>
                          <a:cs typeface="Helvetica Neue"/>
                        </a:rPr>
                        <a:t>Extra coverage after A</a:t>
                      </a:r>
                    </a:p>
                  </a:txBody>
                  <a:tcPr marL="91440" marR="91440" marT="45720" marB="45720">
                    <a:solidFill>
                      <a:srgbClr val="122939"/>
                    </a:solidFill>
                  </a:tcPr>
                </a:tc>
              </a:tr>
              <a:tr h="757238">
                <a:tc>
                  <a:txBody>
                    <a:bodyPr/>
                    <a:lstStyle/>
                    <a:p>
                      <a:r>
                        <a:rPr sz="1800" b="0">
                          <a:solidFill>
                            <a:srgbClr val="203445"/>
                          </a:solidFill>
                          <a:latin typeface="Helvetica Neue"/>
                          <a:ea typeface="Helvetica Neue"/>
                          <a:cs typeface="Helvetica Neue"/>
                        </a:rPr>
                        <a:t>A</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100 discussions</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Already selected</a:t>
                      </a:r>
                    </a:p>
                  </a:txBody>
                  <a:tcPr marL="91440" marR="91440" marT="45720" marB="45720">
                    <a:solidFill>
                      <a:srgbClr val="FAFCFD"/>
                    </a:solidFill>
                  </a:tcPr>
                </a:tc>
              </a:tr>
              <a:tr h="757238">
                <a:tc>
                  <a:txBody>
                    <a:bodyPr/>
                    <a:lstStyle/>
                    <a:p>
                      <a:r>
                        <a:rPr sz="1800" b="0">
                          <a:solidFill>
                            <a:srgbClr val="203445"/>
                          </a:solidFill>
                          <a:latin typeface="Helvetica Neue"/>
                          <a:ea typeface="Helvetica Neue"/>
                          <a:cs typeface="Helvetica Neue"/>
                        </a:rPr>
                        <a:t>B</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90 discussions</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10 new discussions</a:t>
                      </a:r>
                    </a:p>
                  </a:txBody>
                  <a:tcPr marL="91440" marR="91440" marT="45720" marB="45720">
                    <a:solidFill>
                      <a:srgbClr val="FAFCFD"/>
                    </a:solidFill>
                  </a:tcPr>
                </a:tc>
              </a:tr>
              <a:tr h="757238">
                <a:tc>
                  <a:txBody>
                    <a:bodyPr/>
                    <a:lstStyle/>
                    <a:p>
                      <a:r>
                        <a:rPr sz="1800" b="0">
                          <a:solidFill>
                            <a:srgbClr val="203445"/>
                          </a:solidFill>
                          <a:latin typeface="Helvetica Neue"/>
                          <a:ea typeface="Helvetica Neue"/>
                          <a:cs typeface="Helvetica Neue"/>
                        </a:rPr>
                        <a:t>C</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60 discussions</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60 new discussions</a:t>
                      </a:r>
                    </a:p>
                  </a:txBody>
                  <a:tcPr marL="91440" marR="91440" marT="45720" marB="45720">
                    <a:solidFill>
                      <a:srgbClr val="FAFCFD"/>
                    </a:solidFill>
                  </a:tcPr>
                </a:tc>
              </a:tr>
            </a:tbl>
          </a:graphicData>
        </a:graphic>
      </p:graphicFrame>
      <p:sp>
        <p:nvSpPr>
          <p:cNvPr id="5" name="text-pyzrwk-869-203">
            <a:extLst xmlns:a="http://schemas.openxmlformats.org/drawingml/2006/main">
              <a:ext uri="{FF2B5EF4-FFF2-40B4-BE49-F238E27FC236}">
                <a16:creationId xmlns:a16="http://schemas.microsoft.com/office/drawing/2014/main" id="{BE5FB7A4-9E05-49FB-A747-9EA1546B1031}"/>
              </a:ext>
            </a:extLst>
          </p:cNvPr>
          <p:cNvSpPr>
            <a:spLocks xmlns:a="http://schemas.openxmlformats.org/drawingml/2006/main" noGrp="1"/>
          </p:cNvSpPr>
          <p:nvPr/>
        </p:nvSpPr>
        <p:spPr>
          <a:xfrm xmlns:a="http://schemas.openxmlformats.org/drawingml/2006/main">
            <a:off x="8277225" y="1933575"/>
            <a:ext cx="31718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8575"/>
                </a:solidFill>
                <a:latin typeface="Helvetica Neue"/>
                <a:ea typeface="Helvetica Neue"/>
                <a:cs typeface="Helvetica Neue"/>
              </a:defRPr>
            </a:pPr>
            <a:r>
              <a:rPr sz="2700" b="1">
                <a:solidFill>
                  <a:srgbClr val="168575"/>
                </a:solidFill>
                <a:latin typeface="Helvetica Neue"/>
                <a:ea typeface="Helvetica Neue"/>
                <a:cs typeface="Helvetica Neue"/>
              </a:rPr>
              <a:t>Choose A, then C</a:t>
            </a:r>
          </a:p>
        </p:txBody>
      </p:sp>
      <p:sp>
        <p:nvSpPr>
          <p:cNvPr id="6" name="text-pyzrwk-870-337">
            <a:extLst xmlns:a="http://schemas.openxmlformats.org/drawingml/2006/main">
              <a:ext uri="{FF2B5EF4-FFF2-40B4-BE49-F238E27FC236}">
                <a16:creationId xmlns:a16="http://schemas.microsoft.com/office/drawing/2014/main" id="{55741089-0E3B-45EE-88B5-B56A3EFDA91E}"/>
              </a:ext>
            </a:extLst>
          </p:cNvPr>
          <p:cNvSpPr>
            <a:spLocks xmlns:a="http://schemas.openxmlformats.org/drawingml/2006/main" noGrp="1"/>
          </p:cNvSpPr>
          <p:nvPr/>
        </p:nvSpPr>
        <p:spPr>
          <a:xfrm xmlns:a="http://schemas.openxmlformats.org/drawingml/2006/main">
            <a:off x="8286750" y="3209925"/>
            <a:ext cx="32099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445"/>
                </a:solidFill>
                <a:latin typeface="Helvetica Neue"/>
                <a:ea typeface="Helvetica Neue"/>
                <a:cs typeface="Helvetica Neue"/>
              </a:defRPr>
            </a:pPr>
            <a:r>
              <a:rPr sz="2025" b="0">
                <a:solidFill>
                  <a:srgbClr val="203445"/>
                </a:solidFill>
                <a:latin typeface="Helvetica Neue"/>
                <a:ea typeface="Helvetica Neue"/>
                <a:cs typeface="Helvetica Neue"/>
              </a:rPr>
              <a:t>C adds more new coverage</a:t>
            </a:r>
          </a:p>
          <a:p xmlns:a="http://schemas.openxmlformats.org/drawingml/2006/main">
            <a:pPr>
              <a:defRPr sz="2025" b="0">
                <a:solidFill>
                  <a:srgbClr val="203445"/>
                </a:solidFill>
                <a:latin typeface="Helvetica Neue"/>
                <a:ea typeface="Helvetica Neue"/>
                <a:cs typeface="Helvetica Neue"/>
              </a:defRPr>
            </a:pPr>
            <a:r>
              <a:rPr sz="2025" b="0">
                <a:solidFill>
                  <a:srgbClr val="203445"/>
                </a:solidFill>
                <a:latin typeface="Helvetica Neue"/>
                <a:ea typeface="Helvetica Neue"/>
                <a:cs typeface="Helvetica Neue"/>
              </a:rPr>
              <a:t>than B after A is selected.</a:t>
            </a:r>
          </a:p>
        </p:txBody>
      </p:sp>
      <p:sp>
        <p:nvSpPr>
          <p:cNvPr id="7" name="text-pyzrwk-68-557">
            <a:extLst xmlns:a="http://schemas.openxmlformats.org/drawingml/2006/main">
              <a:ext uri="{FF2B5EF4-FFF2-40B4-BE49-F238E27FC236}">
                <a16:creationId xmlns:a16="http://schemas.microsoft.com/office/drawing/2014/main" id="{DA100774-CC69-4BFC-B26D-C286D9272788}"/>
              </a:ext>
            </a:extLst>
          </p:cNvPr>
          <p:cNvSpPr>
            <a:spLocks xmlns:a="http://schemas.openxmlformats.org/drawingml/2006/main" noGrp="1"/>
          </p:cNvSpPr>
          <p:nvPr/>
        </p:nvSpPr>
        <p:spPr>
          <a:xfrm xmlns:a="http://schemas.openxmlformats.org/drawingml/2006/main">
            <a:off x="647700" y="5305425"/>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3445"/>
                </a:solidFill>
                <a:latin typeface="Helvetica Neue"/>
                <a:ea typeface="Helvetica Neue"/>
                <a:cs typeface="Helvetica Neue"/>
              </a:defRPr>
            </a:pPr>
            <a:r>
              <a:rPr sz="2100" b="1">
                <a:solidFill>
                  <a:srgbClr val="203445"/>
                </a:solidFill>
                <a:latin typeface="Helvetica Neue"/>
                <a:ea typeface="Helvetica Neue"/>
                <a:cs typeface="Helvetica Neue"/>
              </a:rPr>
              <a:t>CELF keeps old gains as upper bounds and refreshes only candidates that could still win.</a:t>
            </a:r>
          </a:p>
        </p:txBody>
      </p:sp>
      <p:sp>
        <p:nvSpPr>
          <p:cNvPr id="8" name="text-pyzrwk-68-648">
            <a:extLst xmlns:a="http://schemas.openxmlformats.org/drawingml/2006/main">
              <a:ext uri="{FF2B5EF4-FFF2-40B4-BE49-F238E27FC236}">
                <a16:creationId xmlns:a16="http://schemas.microsoft.com/office/drawing/2014/main" id="{4EE539A8-CF10-4646-95AC-9FDA29AD2C7F}"/>
              </a:ext>
            </a:extLst>
          </p:cNvPr>
          <p:cNvSpPr>
            <a:spLocks xmlns:a="http://schemas.openxmlformats.org/drawingml/2006/main" noGrp="1"/>
          </p:cNvSpPr>
          <p:nvPr/>
        </p:nvSpPr>
        <p:spPr>
          <a:xfrm xmlns:a="http://schemas.openxmlformats.org/drawingml/2006/main">
            <a:off x="647700" y="61722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879"/>
                </a:solidFill>
                <a:latin typeface="Helvetica Neue"/>
                <a:ea typeface="Helvetica Neue"/>
                <a:cs typeface="Helvetica Neue"/>
              </a:defRPr>
            </a:pPr>
            <a:r>
              <a:rPr sz="1350" b="0">
                <a:solidFill>
                  <a:srgbClr val="526879"/>
                </a:solidFill>
                <a:latin typeface="Helvetica Neue"/>
                <a:ea typeface="Helvetica Neue"/>
                <a:cs typeface="Helvetica Neue"/>
              </a:rPr>
              <a:t>Illustrative coverage example. The actual detection score also rewards earlier arrival.</a:t>
            </a:r>
          </a:p>
        </p:txBody>
      </p:sp>
    </p:spTree>
    <p:extLst>
      <p:ext uri="{BB962C8B-B14F-4D97-AF65-F5344CB8AC3E}">
        <p14:creationId xmlns:p14="http://schemas.microsoft.com/office/powerpoint/2010/main" val="1572341498"/>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text-blofv0-64-42">
            <a:extLst xmlns:a="http://schemas.openxmlformats.org/drawingml/2006/main">
              <a:ext uri="{FF2B5EF4-FFF2-40B4-BE49-F238E27FC236}">
                <a16:creationId xmlns:a16="http://schemas.microsoft.com/office/drawing/2014/main" id="{7BC97CEA-F074-4E15-8A29-3AD3F181B67D}"/>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Algorithms and comparison methods</a:t>
            </a:r>
          </a:p>
        </p:txBody>
      </p:sp>
      <p:sp>
        <p:nvSpPr>
          <p:cNvPr id="2" name="text-blofv0-66-113">
            <a:extLst xmlns:a="http://schemas.openxmlformats.org/drawingml/2006/main">
              <a:ext uri="{FF2B5EF4-FFF2-40B4-BE49-F238E27FC236}">
                <a16:creationId xmlns:a16="http://schemas.microsoft.com/office/drawing/2014/main" id="{C8CA6502-4526-4C22-91CC-ACBF5E43A33F}"/>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CELF is the main selector. Other methods test its value</a:t>
            </a:r>
          </a:p>
        </p:txBody>
      </p:sp>
      <p:sp>
        <p:nvSpPr>
          <p:cNvPr id="3" name="text-blofv0-1180-673">
            <a:extLst xmlns:a="http://schemas.openxmlformats.org/drawingml/2006/main">
              <a:ext uri="{FF2B5EF4-FFF2-40B4-BE49-F238E27FC236}">
                <a16:creationId xmlns:a16="http://schemas.microsoft.com/office/drawing/2014/main" id="{998EBD21-96CB-4146-9065-DA80D2AAF5B4}"/>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06</a:t>
            </a:r>
          </a:p>
        </p:txBody>
      </p:sp>
      <p:graphicFrame>
        <p:nvGraphicFramePr>
          <p:cNvPr id="9" name=""/>
          <p:cNvGraphicFramePr/>
          <p:nvPr/>
        </p:nvGraphicFramePr>
        <p:xfrm>
          <a:off xmlns:a="http://schemas.openxmlformats.org/drawingml/2006/main" x="628650" y="1724025"/>
          <a:ext xmlns:a="http://schemas.openxmlformats.org/drawingml/2006/main" cx="10915650" cy="3952875"/>
        </p:xfrm>
        <a:graphic xmlns:a="http://schemas.openxmlformats.org/drawingml/2006/main">
          <a:graphicData uri="http://schemas.openxmlformats.org/drawingml/2006/table">
            <a:tbl>
              <a:tblPr/>
              <a:tblGrid>
                <a:gridCol w="3429000"/>
                <a:gridCol w="7486650"/>
              </a:tblGrid>
              <a:tr h="658813">
                <a:tc>
                  <a:txBody>
                    <a:bodyPr/>
                    <a:lstStyle/>
                    <a:p>
                      <a:r>
                        <a:rPr sz="1800" b="1">
                          <a:solidFill>
                            <a:srgbClr val="FFFFFF"/>
                          </a:solidFill>
                          <a:latin typeface="Helvetica Neue"/>
                          <a:ea typeface="Helvetica Neue"/>
                          <a:cs typeface="Helvetica Neue"/>
                        </a:rPr>
                        <a:t>Method</a:t>
                      </a:r>
                    </a:p>
                  </a:txBody>
                  <a:tcPr marL="91440" marR="91440" marT="45720" marB="45720">
                    <a:solidFill>
                      <a:srgbClr val="122939"/>
                    </a:solidFill>
                  </a:tcPr>
                </a:tc>
                <a:tc>
                  <a:txBody>
                    <a:bodyPr/>
                    <a:lstStyle/>
                    <a:p>
                      <a:r>
                        <a:rPr sz="1800" b="1">
                          <a:solidFill>
                            <a:srgbClr val="FFFFFF"/>
                          </a:solidFill>
                          <a:latin typeface="Helvetica Neue"/>
                          <a:ea typeface="Helvetica Neue"/>
                          <a:cs typeface="Helvetica Neue"/>
                        </a:rPr>
                        <a:t>Role in this project</a:t>
                      </a:r>
                    </a:p>
                  </a:txBody>
                  <a:tcPr marL="91440" marR="91440" marT="45720" marB="45720">
                    <a:solidFill>
                      <a:srgbClr val="122939"/>
                    </a:solidFill>
                  </a:tcPr>
                </a:tc>
              </a:tr>
              <a:tr h="658813">
                <a:tc>
                  <a:txBody>
                    <a:bodyPr/>
                    <a:lstStyle/>
                    <a:p>
                      <a:r>
                        <a:rPr sz="1800" b="0">
                          <a:solidFill>
                            <a:srgbClr val="203445"/>
                          </a:solidFill>
                          <a:latin typeface="Helvetica Neue"/>
                          <a:ea typeface="Helvetica Neue"/>
                          <a:cs typeface="Helvetica Neue"/>
                        </a:rPr>
                        <a:t>CELF / ordinary greedy</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Select by marginal gain / verify lazy selection</a:t>
                      </a:r>
                    </a:p>
                  </a:txBody>
                  <a:tcPr marL="91440" marR="91440" marT="45720" marB="45720">
                    <a:solidFill>
                      <a:srgbClr val="FAFCFD"/>
                    </a:solidFill>
                  </a:tcPr>
                </a:tc>
              </a:tr>
              <a:tr h="658813">
                <a:tc>
                  <a:txBody>
                    <a:bodyPr/>
                    <a:lstStyle/>
                    <a:p>
                      <a:r>
                        <a:rPr sz="1800" b="0">
                          <a:solidFill>
                            <a:srgbClr val="203445"/>
                          </a:solidFill>
                          <a:latin typeface="Helvetica Neue"/>
                          <a:ea typeface="Helvetica Neue"/>
                          <a:cs typeface="Helvetica Neue"/>
                        </a:rPr>
                        <a:t>Independent Cascade + RIS</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Simulate spread / approximate influence selection</a:t>
                      </a:r>
                    </a:p>
                  </a:txBody>
                  <a:tcPr marL="91440" marR="91440" marT="45720" marB="45720">
                    <a:solidFill>
                      <a:srgbClr val="FAFCFD"/>
                    </a:solidFill>
                  </a:tcPr>
                </a:tc>
              </a:tr>
              <a:tr h="658813">
                <a:tc>
                  <a:txBody>
                    <a:bodyPr/>
                    <a:lstStyle/>
                    <a:p>
                      <a:r>
                        <a:rPr sz="1800" b="0">
                          <a:solidFill>
                            <a:srgbClr val="203445"/>
                          </a:solidFill>
                          <a:latin typeface="Helvetica Neue"/>
                          <a:ea typeface="Helvetica Neue"/>
                          <a:cs typeface="Helvetica Neue"/>
                        </a:rPr>
                        <a:t>Top-reach + random</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Discussion activity baseline / chance baseline</a:t>
                      </a:r>
                    </a:p>
                  </a:txBody>
                  <a:tcPr marL="91440" marR="91440" marT="45720" marB="45720">
                    <a:solidFill>
                      <a:srgbClr val="FAFCFD"/>
                    </a:solidFill>
                  </a:tcPr>
                </a:tc>
              </a:tr>
              <a:tr h="658813">
                <a:tc>
                  <a:txBody>
                    <a:bodyPr/>
                    <a:lstStyle/>
                    <a:p>
                      <a:r>
                        <a:rPr sz="1800" b="0">
                          <a:solidFill>
                            <a:srgbClr val="203445"/>
                          </a:solidFill>
                          <a:latin typeface="Helvetica Neue"/>
                          <a:ea typeface="Helvetica Neue"/>
                          <a:cs typeface="Helvetica Neue"/>
                        </a:rPr>
                        <a:t>Centrality rankings</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Degree, PageRank, betweenness, eigenvector, closeness, k-core</a:t>
                      </a:r>
                    </a:p>
                  </a:txBody>
                  <a:tcPr marL="91440" marR="91440" marT="45720" marB="45720">
                    <a:solidFill>
                      <a:srgbClr val="FAFCFD"/>
                    </a:solidFill>
                  </a:tcPr>
                </a:tc>
              </a:tr>
              <a:tr h="658813">
                <a:tc>
                  <a:txBody>
                    <a:bodyPr/>
                    <a:lstStyle/>
                    <a:p>
                      <a:r>
                        <a:rPr sz="1800" b="0">
                          <a:solidFill>
                            <a:srgbClr val="203445"/>
                          </a:solidFill>
                          <a:latin typeface="Helvetica Neue"/>
                          <a:ea typeface="Helvetica Neue"/>
                          <a:cs typeface="Helvetica Neue"/>
                        </a:rPr>
                        <a:t>Louvain</a:t>
                      </a:r>
                    </a:p>
                  </a:txBody>
                  <a:tcPr marL="91440" marR="91440" marT="45720" marB="45720">
                    <a:solidFill>
                      <a:srgbClr val="FAFCFD"/>
                    </a:solidFill>
                  </a:tcPr>
                </a:tc>
                <a:tc>
                  <a:txBody>
                    <a:bodyPr/>
                    <a:lstStyle/>
                    <a:p>
                      <a:r>
                        <a:rPr sz="1800" b="0">
                          <a:solidFill>
                            <a:srgbClr val="203445"/>
                          </a:solidFill>
                          <a:latin typeface="Helvetica Neue"/>
                          <a:ea typeface="Helvetica Neue"/>
                          <a:cs typeface="Helvetica Neue"/>
                        </a:rPr>
                        <a:t>Community analysis and network visualization</a:t>
                      </a:r>
                    </a:p>
                  </a:txBody>
                  <a:tcPr marL="91440" marR="91440" marT="45720" marB="45720">
                    <a:solidFill>
                      <a:srgbClr val="FAFCFD"/>
                    </a:solidFill>
                  </a:tcPr>
                </a:tc>
              </a:tr>
            </a:tbl>
          </a:graphicData>
        </a:graphic>
      </p:graphicFrame>
      <p:sp>
        <p:nvSpPr>
          <p:cNvPr id="5" name="text-blofv0-68-629">
            <a:extLst xmlns:a="http://schemas.openxmlformats.org/drawingml/2006/main">
              <a:ext uri="{FF2B5EF4-FFF2-40B4-BE49-F238E27FC236}">
                <a16:creationId xmlns:a16="http://schemas.microsoft.com/office/drawing/2014/main" id="{0A54504B-FF6B-4837-B71B-46EF78271474}"/>
              </a:ext>
            </a:extLst>
          </p:cNvPr>
          <p:cNvSpPr>
            <a:spLocks xmlns:a="http://schemas.openxmlformats.org/drawingml/2006/main" noGrp="1"/>
          </p:cNvSpPr>
          <p:nvPr/>
        </p:nvSpPr>
        <p:spPr>
          <a:xfrm xmlns:a="http://schemas.openxmlformats.org/drawingml/2006/main">
            <a:off x="647700" y="59912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575"/>
                </a:solidFill>
                <a:latin typeface="Helvetica Neue"/>
                <a:ea typeface="Helvetica Neue"/>
                <a:cs typeface="Helvetica Neue"/>
              </a:defRPr>
            </a:pPr>
            <a:r>
              <a:rPr sz="1875" b="1">
                <a:solidFill>
                  <a:srgbClr val="168575"/>
                </a:solidFill>
                <a:latin typeface="Helvetica Neue"/>
                <a:ea typeface="Helvetica Neue"/>
                <a:cs typeface="Helvetica Neue"/>
              </a:rPr>
              <a:t>A propagation model simulates spread. A selection algorithm chooses users.</a:t>
            </a:r>
          </a:p>
        </p:txBody>
      </p:sp>
    </p:spTree>
    <p:extLst>
      <p:ext uri="{BB962C8B-B14F-4D97-AF65-F5344CB8AC3E}">
        <p14:creationId xmlns:p14="http://schemas.microsoft.com/office/powerpoint/2010/main" val="1087703229"/>
      </p:ext>
    </p:extLst>
  </p:cSld>
</p:sld>
</file>

<file path=ppt/slides/slide7.xml><?xml version="1.0" encoding="utf-8"?>
<p:sld xmlns:p="http://schemas.openxmlformats.org/presentationml/2006/main">
  <p:cSld>
    <p:bg>
      <p:bgPr>
        <a:solidFill xmlns:a="http://schemas.openxmlformats.org/drawingml/2006/main">
          <a:srgbClr val="122939"/>
        </a:solidFill>
      </p:bgPr>
    </p:bg>
    <p:spTree>
      <p:nvGrpSpPr>
        <p:cNvPr id="1" name=""/>
        <p:cNvGrpSpPr/>
        <p:nvPr/>
      </p:nvGrpSpPr>
      <p:grpSpPr>
        <a:xfrm xmlns:a="http://schemas.openxmlformats.org/drawingml/2006/main"/>
      </p:grpSpPr>
      <p:sp>
        <p:nvSpPr>
          <p:cNvPr id="12" name="text-2yf17z-64-42">
            <a:extLst xmlns:a="http://schemas.openxmlformats.org/drawingml/2006/main">
              <a:ext uri="{FF2B5EF4-FFF2-40B4-BE49-F238E27FC236}">
                <a16:creationId xmlns:a16="http://schemas.microsoft.com/office/drawing/2014/main" id="{017FC0AF-1559-4D40-A24C-F2F6FB92D9E2}"/>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A simulated information cascade</a:t>
            </a:r>
          </a:p>
        </p:txBody>
      </p:sp>
      <p:sp>
        <p:nvSpPr>
          <p:cNvPr id="2" name="text-2yf17z-66-113">
            <a:extLst xmlns:a="http://schemas.openxmlformats.org/drawingml/2006/main">
              <a:ext uri="{FF2B5EF4-FFF2-40B4-BE49-F238E27FC236}">
                <a16:creationId xmlns:a16="http://schemas.microsoft.com/office/drawing/2014/main" id="{1B75E3C1-4828-4E15-A5B2-A661E8167D07}"/>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FD1DD"/>
                </a:solidFill>
                <a:latin typeface="Helvetica Neue"/>
                <a:ea typeface="Helvetica Neue"/>
                <a:cs typeface="Helvetica Neue"/>
              </a:defRPr>
            </a:pPr>
            <a:r>
              <a:rPr sz="1725" b="0">
                <a:solidFill>
                  <a:srgbClr val="BFD1DD"/>
                </a:solidFill>
                <a:latin typeface="Helvetica Neue"/>
                <a:ea typeface="Helvetica Neue"/>
                <a:cs typeface="Helvetica Neue"/>
              </a:rPr>
              <a:t>How information can move outward from a seed</a:t>
            </a:r>
          </a:p>
        </p:txBody>
      </p:sp>
      <p:sp>
        <p:nvSpPr>
          <p:cNvPr id="3" name="text-2yf17z-1180-673">
            <a:extLst xmlns:a="http://schemas.openxmlformats.org/drawingml/2006/main">
              <a:ext uri="{FF2B5EF4-FFF2-40B4-BE49-F238E27FC236}">
                <a16:creationId xmlns:a16="http://schemas.microsoft.com/office/drawing/2014/main" id="{B803894B-32E5-46B5-A41D-F221BCCF9B30}"/>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D1DD"/>
                </a:solidFill>
                <a:latin typeface="Helvetica Neue"/>
                <a:ea typeface="Helvetica Neue"/>
                <a:cs typeface="Helvetica Neue"/>
              </a:defRPr>
            </a:pPr>
            <a:r>
              <a:rPr sz="1200" b="0">
                <a:solidFill>
                  <a:srgbClr val="BFD1DD"/>
                </a:solidFill>
                <a:latin typeface="Helvetica Neue"/>
                <a:ea typeface="Helvetica Neue"/>
                <a:cs typeface="Helvetica Neue"/>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a90e26983e04cff"/>
          <a:stretch xmlns:a="http://schemas.openxmlformats.org/drawingml/2006/main"/>
        </p:blipFill>
        <p:spPr>
          <a:xfrm xmlns:a="http://schemas.openxmlformats.org/drawingml/2006/main">
            <a:off x="647700" y="1657350"/>
            <a:ext cx="4810125" cy="4810125"/>
          </a:xfrm>
          <a:prstGeom xmlns:a="http://schemas.openxmlformats.org/drawingml/2006/main" prst="rect">
            <a:avLst/>
          </a:prstGeom>
        </p:spPr>
      </p:pic>
      <p:sp>
        <p:nvSpPr>
          <p:cNvPr id="5" name="text-2yf17z-666-225">
            <a:extLst xmlns:a="http://schemas.openxmlformats.org/drawingml/2006/main">
              <a:ext uri="{FF2B5EF4-FFF2-40B4-BE49-F238E27FC236}">
                <a16:creationId xmlns:a16="http://schemas.microsoft.com/office/drawing/2014/main" id="{3B424738-79A8-46B0-AB07-05F148A24938}"/>
              </a:ext>
            </a:extLst>
          </p:cNvPr>
          <p:cNvSpPr>
            <a:spLocks xmlns:a="http://schemas.openxmlformats.org/drawingml/2006/main" noGrp="1"/>
          </p:cNvSpPr>
          <p:nvPr/>
        </p:nvSpPr>
        <p:spPr>
          <a:xfrm xmlns:a="http://schemas.openxmlformats.org/drawingml/2006/main">
            <a:off x="6343650" y="21431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80CFC3"/>
                </a:solidFill>
                <a:latin typeface="Helvetica Neue"/>
                <a:ea typeface="Helvetica Neue"/>
                <a:cs typeface="Helvetica Neue"/>
              </a:defRPr>
            </a:pPr>
            <a:r>
              <a:rPr sz="2700" b="1">
                <a:solidFill>
                  <a:srgbClr val="80CFC3"/>
                </a:solidFill>
                <a:latin typeface="Helvetica Neue"/>
                <a:ea typeface="Helvetica Neue"/>
                <a:cs typeface="Helvetica Neue"/>
              </a:rPr>
              <a:t>1</a:t>
            </a:r>
          </a:p>
        </p:txBody>
      </p:sp>
      <p:sp>
        <p:nvSpPr>
          <p:cNvPr id="6" name="text-2yf17z-735-226">
            <a:extLst xmlns:a="http://schemas.openxmlformats.org/drawingml/2006/main">
              <a:ext uri="{FF2B5EF4-FFF2-40B4-BE49-F238E27FC236}">
                <a16:creationId xmlns:a16="http://schemas.microsoft.com/office/drawing/2014/main" id="{C80A0934-59B6-4E63-9633-BA9F20D969E2}"/>
              </a:ext>
            </a:extLst>
          </p:cNvPr>
          <p:cNvSpPr>
            <a:spLocks xmlns:a="http://schemas.openxmlformats.org/drawingml/2006/main" noGrp="1"/>
          </p:cNvSpPr>
          <p:nvPr/>
        </p:nvSpPr>
        <p:spPr>
          <a:xfrm xmlns:a="http://schemas.openxmlformats.org/drawingml/2006/main">
            <a:off x="7000875" y="21526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A seed becomes active</a:t>
            </a:r>
          </a:p>
        </p:txBody>
      </p:sp>
      <p:sp>
        <p:nvSpPr>
          <p:cNvPr id="7" name="text-2yf17z-666-355">
            <a:extLst xmlns:a="http://schemas.openxmlformats.org/drawingml/2006/main">
              <a:ext uri="{FF2B5EF4-FFF2-40B4-BE49-F238E27FC236}">
                <a16:creationId xmlns:a16="http://schemas.microsoft.com/office/drawing/2014/main" id="{C49C85E5-FAE7-4FBD-A101-0A218D900358}"/>
              </a:ext>
            </a:extLst>
          </p:cNvPr>
          <p:cNvSpPr>
            <a:spLocks xmlns:a="http://schemas.openxmlformats.org/drawingml/2006/main" noGrp="1"/>
          </p:cNvSpPr>
          <p:nvPr/>
        </p:nvSpPr>
        <p:spPr>
          <a:xfrm xmlns:a="http://schemas.openxmlformats.org/drawingml/2006/main">
            <a:off x="6343650" y="33813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80CFC3"/>
                </a:solidFill>
                <a:latin typeface="Helvetica Neue"/>
                <a:ea typeface="Helvetica Neue"/>
                <a:cs typeface="Helvetica Neue"/>
              </a:defRPr>
            </a:pPr>
            <a:r>
              <a:rPr sz="2700" b="1">
                <a:solidFill>
                  <a:srgbClr val="80CFC3"/>
                </a:solidFill>
                <a:latin typeface="Helvetica Neue"/>
                <a:ea typeface="Helvetica Neue"/>
                <a:cs typeface="Helvetica Neue"/>
              </a:rPr>
              <a:t>2</a:t>
            </a:r>
          </a:p>
        </p:txBody>
      </p:sp>
      <p:sp>
        <p:nvSpPr>
          <p:cNvPr id="8" name="text-2yf17z-735-356">
            <a:extLst xmlns:a="http://schemas.openxmlformats.org/drawingml/2006/main">
              <a:ext uri="{FF2B5EF4-FFF2-40B4-BE49-F238E27FC236}">
                <a16:creationId xmlns:a16="http://schemas.microsoft.com/office/drawing/2014/main" id="{24DAA874-ADF2-475D-BEDF-A4187869295D}"/>
              </a:ext>
            </a:extLst>
          </p:cNvPr>
          <p:cNvSpPr>
            <a:spLocks xmlns:a="http://schemas.openxmlformats.org/drawingml/2006/main" noGrp="1"/>
          </p:cNvSpPr>
          <p:nvPr/>
        </p:nvSpPr>
        <p:spPr>
          <a:xfrm xmlns:a="http://schemas.openxmlformats.org/drawingml/2006/main">
            <a:off x="7000875" y="3390900"/>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Newly active users try</a:t>
            </a:r>
          </a:p>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to activate their neighbors</a:t>
            </a:r>
          </a:p>
        </p:txBody>
      </p:sp>
      <p:sp>
        <p:nvSpPr>
          <p:cNvPr id="9" name="text-2yf17z-666-519">
            <a:extLst xmlns:a="http://schemas.openxmlformats.org/drawingml/2006/main">
              <a:ext uri="{FF2B5EF4-FFF2-40B4-BE49-F238E27FC236}">
                <a16:creationId xmlns:a16="http://schemas.microsoft.com/office/drawing/2014/main" id="{FB58D23D-8C83-491C-A2AC-7E9595273143}"/>
              </a:ext>
            </a:extLst>
          </p:cNvPr>
          <p:cNvSpPr>
            <a:spLocks xmlns:a="http://schemas.openxmlformats.org/drawingml/2006/main" noGrp="1"/>
          </p:cNvSpPr>
          <p:nvPr/>
        </p:nvSpPr>
        <p:spPr>
          <a:xfrm xmlns:a="http://schemas.openxmlformats.org/drawingml/2006/main">
            <a:off x="6343650" y="49434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80CFC3"/>
                </a:solidFill>
                <a:latin typeface="Helvetica Neue"/>
                <a:ea typeface="Helvetica Neue"/>
                <a:cs typeface="Helvetica Neue"/>
              </a:defRPr>
            </a:pPr>
            <a:r>
              <a:rPr sz="2700" b="1">
                <a:solidFill>
                  <a:srgbClr val="80CFC3"/>
                </a:solidFill>
                <a:latin typeface="Helvetica Neue"/>
                <a:ea typeface="Helvetica Neue"/>
                <a:cs typeface="Helvetica Neue"/>
              </a:rPr>
              <a:t>3</a:t>
            </a:r>
          </a:p>
        </p:txBody>
      </p:sp>
      <p:sp>
        <p:nvSpPr>
          <p:cNvPr id="10" name="text-2yf17z-735-520">
            <a:extLst xmlns:a="http://schemas.openxmlformats.org/drawingml/2006/main">
              <a:ext uri="{FF2B5EF4-FFF2-40B4-BE49-F238E27FC236}">
                <a16:creationId xmlns:a16="http://schemas.microsoft.com/office/drawing/2014/main" id="{D17A587D-0774-45B1-A2AE-C44A68B1BE65}"/>
              </a:ext>
            </a:extLst>
          </p:cNvPr>
          <p:cNvSpPr>
            <a:spLocks xmlns:a="http://schemas.openxmlformats.org/drawingml/2006/main" noGrp="1"/>
          </p:cNvSpPr>
          <p:nvPr/>
        </p:nvSpPr>
        <p:spPr>
          <a:xfrm xmlns:a="http://schemas.openxmlformats.org/drawingml/2006/main">
            <a:off x="7000875" y="4953000"/>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The cascade stops when</a:t>
            </a:r>
          </a:p>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no new users activate</a:t>
            </a:r>
          </a:p>
        </p:txBody>
      </p:sp>
      <p:sp>
        <p:nvSpPr>
          <p:cNvPr id="11" name="text-2yf17z-70-678">
            <a:extLst xmlns:a="http://schemas.openxmlformats.org/drawingml/2006/main">
              <a:ext uri="{FF2B5EF4-FFF2-40B4-BE49-F238E27FC236}">
                <a16:creationId xmlns:a16="http://schemas.microsoft.com/office/drawing/2014/main" id="{70D18A01-82FC-4AB4-89F5-176AA4A745BA}"/>
              </a:ext>
            </a:extLst>
          </p:cNvPr>
          <p:cNvSpPr>
            <a:spLocks xmlns:a="http://schemas.openxmlformats.org/drawingml/2006/main" noGrp="1"/>
          </p:cNvSpPr>
          <p:nvPr/>
        </p:nvSpPr>
        <p:spPr>
          <a:xfrm xmlns:a="http://schemas.openxmlformats.org/drawingml/2006/main">
            <a:off x="666750" y="6457950"/>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FD1DD"/>
                </a:solidFill>
                <a:latin typeface="Helvetica Neue"/>
                <a:ea typeface="Helvetica Neue"/>
                <a:cs typeface="Helvetica Neue"/>
              </a:defRPr>
            </a:pPr>
            <a:r>
              <a:rPr sz="1275" b="0">
                <a:solidFill>
                  <a:srgbClr val="BFD1DD"/>
                </a:solidFill>
                <a:latin typeface="Helvetica Neue"/>
                <a:ea typeface="Helvetica Neue"/>
                <a:cs typeface="Helvetica Neue"/>
              </a:rPr>
              <a:t>Illustration only: 171-user subgraph with amplified probabilities</a:t>
            </a:r>
          </a:p>
        </p:txBody>
      </p:sp>
    </p:spTree>
    <p:extLst>
      <p:ext uri="{BB962C8B-B14F-4D97-AF65-F5344CB8AC3E}">
        <p14:creationId xmlns:p14="http://schemas.microsoft.com/office/powerpoint/2010/main" val="427754247"/>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text-ydi659-64-42">
            <a:extLst xmlns:a="http://schemas.openxmlformats.org/drawingml/2006/main">
              <a:ext uri="{FF2B5EF4-FFF2-40B4-BE49-F238E27FC236}">
                <a16:creationId xmlns:a16="http://schemas.microsoft.com/office/drawing/2014/main" id="{DD2D89D2-3980-4178-B0B9-8D581CCF5A8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Finding 1: 52.1% coverage with 20 sensors</a:t>
            </a:r>
          </a:p>
        </p:txBody>
      </p:sp>
      <p:sp>
        <p:nvSpPr>
          <p:cNvPr id="2" name="text-ydi659-66-113">
            <a:extLst xmlns:a="http://schemas.openxmlformats.org/drawingml/2006/main">
              <a:ext uri="{FF2B5EF4-FFF2-40B4-BE49-F238E27FC236}">
                <a16:creationId xmlns:a16="http://schemas.microsoft.com/office/drawing/2014/main" id="{EB7F7E61-FBC1-4565-A2D6-F63C9781807E}"/>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3.69× the saved random baseline</a:t>
            </a:r>
          </a:p>
        </p:txBody>
      </p:sp>
      <p:sp>
        <p:nvSpPr>
          <p:cNvPr id="3" name="text-ydi659-1180-673">
            <a:extLst xmlns:a="http://schemas.openxmlformats.org/drawingml/2006/main">
              <a:ext uri="{FF2B5EF4-FFF2-40B4-BE49-F238E27FC236}">
                <a16:creationId xmlns:a16="http://schemas.microsoft.com/office/drawing/2014/main" id="{96E57139-DB96-4234-A037-9904D3AC685D}"/>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08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8337557d51e491c"/>
          <a:stretch xmlns:a="http://schemas.openxmlformats.org/drawingml/2006/main"/>
        </p:blipFill>
        <p:spPr>
          <a:xfrm xmlns:a="http://schemas.openxmlformats.org/drawingml/2006/main">
            <a:off x="1939120" y="1685925"/>
            <a:ext cx="8294709" cy="4552950"/>
          </a:xfrm>
          <a:prstGeom xmlns:a="http://schemas.openxmlformats.org/drawingml/2006/main" prst="rect">
            <a:avLst/>
          </a:prstGeom>
        </p:spPr>
      </p:pic>
    </p:spTree>
    <p:extLst>
      <p:ext uri="{BB962C8B-B14F-4D97-AF65-F5344CB8AC3E}">
        <p14:creationId xmlns:p14="http://schemas.microsoft.com/office/powerpoint/2010/main" val="1517382919"/>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text-di5j8z-64-42">
            <a:extLst xmlns:a="http://schemas.openxmlformats.org/drawingml/2006/main">
              <a:ext uri="{FF2B5EF4-FFF2-40B4-BE49-F238E27FC236}">
                <a16:creationId xmlns:a16="http://schemas.microsoft.com/office/drawing/2014/main" id="{49147255-829C-42A6-B501-6B74A9D5B27B}"/>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Detection arrived early in observed activity</a:t>
            </a:r>
          </a:p>
        </p:txBody>
      </p:sp>
      <p:sp>
        <p:nvSpPr>
          <p:cNvPr id="2" name="text-di5j8z-66-113">
            <a:extLst xmlns:a="http://schemas.openxmlformats.org/drawingml/2006/main">
              <a:ext uri="{FF2B5EF4-FFF2-40B4-BE49-F238E27FC236}">
                <a16:creationId xmlns:a16="http://schemas.microsoft.com/office/drawing/2014/main" id="{845FC90E-5DF7-4A7D-AB4F-637CF23819B6}"/>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Median delay: 2.63 hours. Median discussion lifespan: 56.38 hours</a:t>
            </a:r>
          </a:p>
        </p:txBody>
      </p:sp>
      <p:sp>
        <p:nvSpPr>
          <p:cNvPr id="3" name="text-di5j8z-1180-673">
            <a:extLst xmlns:a="http://schemas.openxmlformats.org/drawingml/2006/main">
              <a:ext uri="{FF2B5EF4-FFF2-40B4-BE49-F238E27FC236}">
                <a16:creationId xmlns:a16="http://schemas.microsoft.com/office/drawing/2014/main" id="{F4EC7E16-D291-4727-A581-080B6E50D354}"/>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09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c78665f21c4464f"/>
          <a:stretch xmlns:a="http://schemas.openxmlformats.org/drawingml/2006/main"/>
        </p:blipFill>
        <p:spPr>
          <a:xfrm xmlns:a="http://schemas.openxmlformats.org/drawingml/2006/main">
            <a:off x="1298606" y="1685925"/>
            <a:ext cx="9575738" cy="4552950"/>
          </a:xfrm>
          <a:prstGeom xmlns:a="http://schemas.openxmlformats.org/drawingml/2006/main" prst="rect">
            <a:avLst/>
          </a:prstGeom>
        </p:spPr>
      </p:pic>
    </p:spTree>
    <p:extLst>
      <p:ext uri="{BB962C8B-B14F-4D97-AF65-F5344CB8AC3E}">
        <p14:creationId xmlns:p14="http://schemas.microsoft.com/office/powerpoint/2010/main" val="1573489724"/>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text-46jsjy-64-42">
            <a:extLst xmlns:a="http://schemas.openxmlformats.org/drawingml/2006/main">
              <a:ext uri="{FF2B5EF4-FFF2-40B4-BE49-F238E27FC236}">
                <a16:creationId xmlns:a16="http://schemas.microsoft.com/office/drawing/2014/main" id="{5FAE2650-F8AA-4032-BA38-011163640D29}"/>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Finding 2: 196 additional discussions</a:t>
            </a:r>
          </a:p>
        </p:txBody>
      </p:sp>
      <p:sp>
        <p:nvSpPr>
          <p:cNvPr id="2" name="text-46jsjy-66-113">
            <a:extLst xmlns:a="http://schemas.openxmlformats.org/drawingml/2006/main">
              <a:ext uri="{FF2B5EF4-FFF2-40B4-BE49-F238E27FC236}">
                <a16:creationId xmlns:a16="http://schemas.microsoft.com/office/drawing/2014/main" id="{5F918932-1C9B-4CCE-A500-C3F8CE897474}"/>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12.4% relative improvement over Top-reach at k = 20</a:t>
            </a:r>
          </a:p>
        </p:txBody>
      </p:sp>
      <p:sp>
        <p:nvSpPr>
          <p:cNvPr id="3" name="text-46jsjy-1180-673">
            <a:extLst xmlns:a="http://schemas.openxmlformats.org/drawingml/2006/main">
              <a:ext uri="{FF2B5EF4-FFF2-40B4-BE49-F238E27FC236}">
                <a16:creationId xmlns:a16="http://schemas.microsoft.com/office/drawing/2014/main" id="{326EA7CA-2C38-4139-ADC7-523813A3E4C8}"/>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10</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426408556844f8e"/>
          <a:stretch xmlns:a="http://schemas.openxmlformats.org/drawingml/2006/main"/>
        </p:blipFill>
        <p:spPr>
          <a:xfrm xmlns:a="http://schemas.openxmlformats.org/drawingml/2006/main">
            <a:off x="1930551" y="1685925"/>
            <a:ext cx="8311847" cy="4552950"/>
          </a:xfrm>
          <a:prstGeom xmlns:a="http://schemas.openxmlformats.org/drawingml/2006/main" prst="rect">
            <a:avLst/>
          </a:prstGeom>
        </p:spPr>
      </p:pic>
    </p:spTree>
    <p:extLst>
      <p:ext uri="{BB962C8B-B14F-4D97-AF65-F5344CB8AC3E}">
        <p14:creationId xmlns:p14="http://schemas.microsoft.com/office/powerpoint/2010/main" val="2065164024"/>
      </p:ext>
    </p:extLst>
  </p:cSld>
</p:sld>
</file>

<file path=ppt/slides/slide1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text-20bmo9-64-42">
            <a:extLst xmlns:a="http://schemas.openxmlformats.org/drawingml/2006/main">
              <a:ext uri="{FF2B5EF4-FFF2-40B4-BE49-F238E27FC236}">
                <a16:creationId xmlns:a16="http://schemas.microsoft.com/office/drawing/2014/main" id="{5DDA8D92-C973-4141-A6B2-CBF12400C1C5}"/>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The selected sensors duplicated less coverage</a:t>
            </a:r>
          </a:p>
        </p:txBody>
      </p:sp>
      <p:sp>
        <p:nvSpPr>
          <p:cNvPr id="2" name="text-20bmo9-66-113">
            <a:extLst xmlns:a="http://schemas.openxmlformats.org/drawingml/2006/main">
              <a:ext uri="{FF2B5EF4-FFF2-40B4-BE49-F238E27FC236}">
                <a16:creationId xmlns:a16="http://schemas.microsoft.com/office/drawing/2014/main" id="{E787D1DA-6D12-47C1-8779-EBFFAEAE7125}"/>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Overlap fell from 60.7% to 48.6%</a:t>
            </a:r>
          </a:p>
        </p:txBody>
      </p:sp>
      <p:sp>
        <p:nvSpPr>
          <p:cNvPr id="3" name="text-20bmo9-1180-673">
            <a:extLst xmlns:a="http://schemas.openxmlformats.org/drawingml/2006/main">
              <a:ext uri="{FF2B5EF4-FFF2-40B4-BE49-F238E27FC236}">
                <a16:creationId xmlns:a16="http://schemas.microsoft.com/office/drawing/2014/main" id="{CAC4FF97-1E58-4CD2-AAFF-A224754F1284}"/>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11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862e12ca8844e11"/>
          <a:stretch xmlns:a="http://schemas.openxmlformats.org/drawingml/2006/main"/>
        </p:blipFill>
        <p:spPr>
          <a:xfrm xmlns:a="http://schemas.openxmlformats.org/drawingml/2006/main">
            <a:off x="1930551" y="1685925"/>
            <a:ext cx="8311847" cy="4552950"/>
          </a:xfrm>
          <a:prstGeom xmlns:a="http://schemas.openxmlformats.org/drawingml/2006/main" prst="rect">
            <a:avLst/>
          </a:prstGeom>
        </p:spPr>
      </p:pic>
    </p:spTree>
    <p:extLst>
      <p:ext uri="{BB962C8B-B14F-4D97-AF65-F5344CB8AC3E}">
        <p14:creationId xmlns:p14="http://schemas.microsoft.com/office/powerpoint/2010/main" val="1663766411"/>
      </p:ext>
    </p:extLst>
  </p:cSld>
</p:sld>
</file>

<file path=ppt/slides/slide1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6" name="text-kdczhq-64-42">
            <a:extLst xmlns:a="http://schemas.openxmlformats.org/drawingml/2006/main">
              <a:ext uri="{FF2B5EF4-FFF2-40B4-BE49-F238E27FC236}">
                <a16:creationId xmlns:a16="http://schemas.microsoft.com/office/drawing/2014/main" id="{0C74A9BA-7A72-42EA-80D1-EE22E7F18C4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Finding 3: the same greedy selection, less work</a:t>
            </a:r>
          </a:p>
        </p:txBody>
      </p:sp>
      <p:sp>
        <p:nvSpPr>
          <p:cNvPr id="2" name="text-kdczhq-66-113">
            <a:extLst xmlns:a="http://schemas.openxmlformats.org/drawingml/2006/main">
              <a:ext uri="{FF2B5EF4-FFF2-40B4-BE49-F238E27FC236}">
                <a16:creationId xmlns:a16="http://schemas.microsoft.com/office/drawing/2014/main" id="{B78A4E38-0163-471D-ACE8-4E46446AEFEA}"/>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3.95× fewer objective evaluations in the saved k = 5 experiment</a:t>
            </a:r>
          </a:p>
        </p:txBody>
      </p:sp>
      <p:sp>
        <p:nvSpPr>
          <p:cNvPr id="3" name="text-kdczhq-1180-673">
            <a:extLst xmlns:a="http://schemas.openxmlformats.org/drawingml/2006/main">
              <a:ext uri="{FF2B5EF4-FFF2-40B4-BE49-F238E27FC236}">
                <a16:creationId xmlns:a16="http://schemas.microsoft.com/office/drawing/2014/main" id="{43A6C1A5-435B-4159-9A54-166BBE6367EA}"/>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12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a8c30daf5574a98"/>
          <a:stretch xmlns:a="http://schemas.openxmlformats.org/drawingml/2006/main"/>
        </p:blipFill>
        <p:spPr>
          <a:xfrm xmlns:a="http://schemas.openxmlformats.org/drawingml/2006/main">
            <a:off x="1933408" y="1685925"/>
            <a:ext cx="8306135" cy="4552950"/>
          </a:xfrm>
          <a:prstGeom xmlns:a="http://schemas.openxmlformats.org/drawingml/2006/main" prst="rect">
            <a:avLst/>
          </a:prstGeom>
        </p:spPr>
      </p:pic>
      <p:sp>
        <p:nvSpPr>
          <p:cNvPr id="5" name="text-kdczhq-68-654">
            <a:extLst xmlns:a="http://schemas.openxmlformats.org/drawingml/2006/main">
              <a:ext uri="{FF2B5EF4-FFF2-40B4-BE49-F238E27FC236}">
                <a16:creationId xmlns:a16="http://schemas.microsoft.com/office/drawing/2014/main" id="{FFCD0F2A-DA90-4D98-A317-F687B2907EB1}"/>
              </a:ext>
            </a:extLst>
          </p:cNvPr>
          <p:cNvSpPr>
            <a:spLocks xmlns:a="http://schemas.openxmlformats.org/drawingml/2006/main" noGrp="1"/>
          </p:cNvSpPr>
          <p:nvPr/>
        </p:nvSpPr>
        <p:spPr>
          <a:xfrm xmlns:a="http://schemas.openxmlformats.org/drawingml/2006/main">
            <a:off x="647700" y="6229350"/>
            <a:ext cx="1059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79"/>
                </a:solidFill>
                <a:latin typeface="Helvetica Neue"/>
                <a:ea typeface="Helvetica Neue"/>
                <a:cs typeface="Helvetica Neue"/>
              </a:defRPr>
            </a:pPr>
            <a:r>
              <a:rPr sz="1500" b="0">
                <a:solidFill>
                  <a:srgbClr val="526879"/>
                </a:solidFill>
                <a:latin typeface="Helvetica Neue"/>
                <a:ea typeface="Helvetica Neue"/>
                <a:cs typeface="Helvetica Neue"/>
              </a:rPr>
              <a:t>CELF matched greedy on this instance. The result does not prove global optimality.</a:t>
            </a:r>
          </a:p>
        </p:txBody>
      </p:sp>
    </p:spTree>
    <p:extLst>
      <p:ext uri="{BB962C8B-B14F-4D97-AF65-F5344CB8AC3E}">
        <p14:creationId xmlns:p14="http://schemas.microsoft.com/office/powerpoint/2010/main" val="1078234032"/>
      </p:ext>
    </p:extLst>
  </p:cSld>
</p:sld>
</file>

<file path=ppt/slides/slide1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text-qid23v-64-42">
            <a:extLst xmlns:a="http://schemas.openxmlformats.org/drawingml/2006/main">
              <a:ext uri="{FF2B5EF4-FFF2-40B4-BE49-F238E27FC236}">
                <a16:creationId xmlns:a16="http://schemas.microsoft.com/office/drawing/2014/main" id="{5606F35C-9417-4C7C-8481-69ACD7631DD5}"/>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Finding 4: value varied across the two tasks</a:t>
            </a:r>
          </a:p>
        </p:txBody>
      </p:sp>
      <p:sp>
        <p:nvSpPr>
          <p:cNvPr id="2" name="text-qid23v-66-113">
            <a:extLst xmlns:a="http://schemas.openxmlformats.org/drawingml/2006/main">
              <a:ext uri="{FF2B5EF4-FFF2-40B4-BE49-F238E27FC236}">
                <a16:creationId xmlns:a16="http://schemas.microsoft.com/office/drawing/2014/main" id="{72A81623-C32B-4316-B2DB-44DC90D75845}"/>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At k = 30, the historical gains were +0.53% and +13.1%</a:t>
            </a:r>
          </a:p>
        </p:txBody>
      </p:sp>
      <p:sp>
        <p:nvSpPr>
          <p:cNvPr id="3" name="text-qid23v-1180-673">
            <a:extLst xmlns:a="http://schemas.openxmlformats.org/drawingml/2006/main">
              <a:ext uri="{FF2B5EF4-FFF2-40B4-BE49-F238E27FC236}">
                <a16:creationId xmlns:a16="http://schemas.microsoft.com/office/drawing/2014/main" id="{486C4047-00D1-4566-94FA-2221B331663A}"/>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13</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07213c8cb9049cc"/>
          <a:stretch xmlns:a="http://schemas.openxmlformats.org/drawingml/2006/main"/>
        </p:blipFill>
        <p:spPr>
          <a:xfrm xmlns:a="http://schemas.openxmlformats.org/drawingml/2006/main">
            <a:off x="1939120" y="1685925"/>
            <a:ext cx="8294709" cy="4552950"/>
          </a:xfrm>
          <a:prstGeom xmlns:a="http://schemas.openxmlformats.org/drawingml/2006/main" prst="rect">
            <a:avLst/>
          </a:prstGeom>
        </p:spPr>
      </p:pic>
    </p:spTree>
    <p:extLst>
      <p:ext uri="{BB962C8B-B14F-4D97-AF65-F5344CB8AC3E}">
        <p14:creationId xmlns:p14="http://schemas.microsoft.com/office/powerpoint/2010/main" val="858053408"/>
      </p:ext>
    </p:extLst>
  </p:cSld>
</p:sld>
</file>

<file path=ppt/slides/slide1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7" name="text-03jgep-64-42">
            <a:extLst xmlns:a="http://schemas.openxmlformats.org/drawingml/2006/main">
              <a:ext uri="{FF2B5EF4-FFF2-40B4-BE49-F238E27FC236}">
                <a16:creationId xmlns:a16="http://schemas.microsoft.com/office/drawing/2014/main" id="{B653F5F5-EDA3-4375-B93A-D02C288C2F8A}"/>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Influence seeds and detection sensors differ</a:t>
            </a:r>
          </a:p>
        </p:txBody>
      </p:sp>
      <p:sp>
        <p:nvSpPr>
          <p:cNvPr id="2" name="text-03jgep-66-113">
            <a:extLst xmlns:a="http://schemas.openxmlformats.org/drawingml/2006/main">
              <a:ext uri="{FF2B5EF4-FFF2-40B4-BE49-F238E27FC236}">
                <a16:creationId xmlns:a16="http://schemas.microsoft.com/office/drawing/2014/main" id="{337AE095-6C06-4086-932B-840A6BD5DB05}"/>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The objective changes which users the optimizer selects</a:t>
            </a:r>
          </a:p>
        </p:txBody>
      </p:sp>
      <p:sp>
        <p:nvSpPr>
          <p:cNvPr id="3" name="text-03jgep-1180-673">
            <a:extLst xmlns:a="http://schemas.openxmlformats.org/drawingml/2006/main">
              <a:ext uri="{FF2B5EF4-FFF2-40B4-BE49-F238E27FC236}">
                <a16:creationId xmlns:a16="http://schemas.microsoft.com/office/drawing/2014/main" id="{C8DF27B4-6A87-4430-8D32-2F1E7595FFFE}"/>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14</a:t>
            </a:r>
          </a:p>
        </p:txBody>
      </p:sp>
      <p:sp>
        <p:nvSpPr>
          <p:cNvPr id="4" name="text-03jgep-149-177">
            <a:extLst xmlns:a="http://schemas.openxmlformats.org/drawingml/2006/main">
              <a:ext uri="{FF2B5EF4-FFF2-40B4-BE49-F238E27FC236}">
                <a16:creationId xmlns:a16="http://schemas.microsoft.com/office/drawing/2014/main" id="{CF798BE7-0335-4475-B131-79C6137CE034}"/>
              </a:ext>
            </a:extLst>
          </p:cNvPr>
          <p:cNvSpPr>
            <a:spLocks xmlns:a="http://schemas.openxmlformats.org/drawingml/2006/main" noGrp="1"/>
          </p:cNvSpPr>
          <p:nvPr/>
        </p:nvSpPr>
        <p:spPr>
          <a:xfrm xmlns:a="http://schemas.openxmlformats.org/drawingml/2006/main">
            <a:off x="1419225" y="1685925"/>
            <a:ext cx="4600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3445"/>
                </a:solidFill>
                <a:latin typeface="Helvetica Neue"/>
                <a:ea typeface="Helvetica Neue"/>
                <a:cs typeface="Helvetica Neue"/>
              </a:defRPr>
            </a:pPr>
            <a:r>
              <a:rPr sz="2025" b="1">
                <a:solidFill>
                  <a:srgbClr val="203445"/>
                </a:solidFill>
                <a:latin typeface="Helvetica Neue"/>
                <a:ea typeface="Helvetica Neue"/>
                <a:cs typeface="Helvetica Neue"/>
              </a:rPr>
              <a:t>30 influence seeds</a:t>
            </a:r>
          </a:p>
        </p:txBody>
      </p:sp>
      <p:sp>
        <p:nvSpPr>
          <p:cNvPr id="5" name="text-03jgep-693-177">
            <a:extLst xmlns:a="http://schemas.openxmlformats.org/drawingml/2006/main">
              <a:ext uri="{FF2B5EF4-FFF2-40B4-BE49-F238E27FC236}">
                <a16:creationId xmlns:a16="http://schemas.microsoft.com/office/drawing/2014/main" id="{CFD0E698-8E7E-45C5-81B9-ED02534B15E3}"/>
              </a:ext>
            </a:extLst>
          </p:cNvPr>
          <p:cNvSpPr>
            <a:spLocks xmlns:a="http://schemas.openxmlformats.org/drawingml/2006/main" noGrp="1"/>
          </p:cNvSpPr>
          <p:nvPr/>
        </p:nvSpPr>
        <p:spPr>
          <a:xfrm xmlns:a="http://schemas.openxmlformats.org/drawingml/2006/main">
            <a:off x="6600825" y="1685925"/>
            <a:ext cx="4600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3445"/>
                </a:solidFill>
                <a:latin typeface="Helvetica Neue"/>
                <a:ea typeface="Helvetica Neue"/>
                <a:cs typeface="Helvetica Neue"/>
              </a:defRPr>
            </a:pPr>
            <a:r>
              <a:rPr sz="2025" b="1">
                <a:solidFill>
                  <a:srgbClr val="203445"/>
                </a:solidFill>
                <a:latin typeface="Helvetica Neue"/>
                <a:ea typeface="Helvetica Neue"/>
                <a:cs typeface="Helvetica Neue"/>
              </a:rPr>
              <a:t>20 detection sensors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eb526e5627345b4"/>
          <a:stretch xmlns:a="http://schemas.openxmlformats.org/drawingml/2006/main"/>
        </p:blipFill>
        <p:spPr>
          <a:xfrm xmlns:a="http://schemas.openxmlformats.org/drawingml/2006/main">
            <a:off x="2053945" y="2171700"/>
            <a:ext cx="8065060" cy="3952875"/>
          </a:xfrm>
          <a:prstGeom xmlns:a="http://schemas.openxmlformats.org/drawingml/2006/main" prst="rect">
            <a:avLst/>
          </a:prstGeom>
        </p:spPr>
      </p:pic>
    </p:spTree>
    <p:extLst>
      <p:ext uri="{BB962C8B-B14F-4D97-AF65-F5344CB8AC3E}">
        <p14:creationId xmlns:p14="http://schemas.microsoft.com/office/powerpoint/2010/main" val="2014148885"/>
      </p:ext>
    </p:extLst>
  </p:cSld>
</p:sld>
</file>

<file path=ppt/slides/slide1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9" name="text-qsjecg-64-42">
            <a:extLst xmlns:a="http://schemas.openxmlformats.org/drawingml/2006/main">
              <a:ext uri="{FF2B5EF4-FFF2-40B4-BE49-F238E27FC236}">
                <a16:creationId xmlns:a16="http://schemas.microsoft.com/office/drawing/2014/main" id="{C80CCC2C-DB83-47DE-A05B-F14A08BC4CA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3445"/>
                </a:solidFill>
                <a:latin typeface="Helvetica Neue"/>
                <a:ea typeface="Helvetica Neue"/>
                <a:cs typeface="Helvetica Neue"/>
              </a:defRPr>
            </a:pPr>
            <a:r>
              <a:rPr sz="3300" b="1">
                <a:solidFill>
                  <a:srgbClr val="203445"/>
                </a:solidFill>
                <a:latin typeface="Helvetica Neue"/>
                <a:ea typeface="Helvetica Neue"/>
                <a:cs typeface="Helvetica Neue"/>
              </a:rPr>
              <a:t>Validation across time</a:t>
            </a:r>
          </a:p>
        </p:txBody>
      </p:sp>
      <p:sp>
        <p:nvSpPr>
          <p:cNvPr id="2" name="text-qsjecg-66-113">
            <a:extLst xmlns:a="http://schemas.openxmlformats.org/drawingml/2006/main">
              <a:ext uri="{FF2B5EF4-FFF2-40B4-BE49-F238E27FC236}">
                <a16:creationId xmlns:a16="http://schemas.microsoft.com/office/drawing/2014/main" id="{867ED7B5-0B48-4572-9723-4ACB3E928A63}"/>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9"/>
                </a:solidFill>
                <a:latin typeface="Helvetica Neue"/>
                <a:ea typeface="Helvetica Neue"/>
                <a:cs typeface="Helvetica Neue"/>
              </a:defRPr>
            </a:pPr>
            <a:r>
              <a:rPr sz="1725" b="0">
                <a:solidFill>
                  <a:srgbClr val="526879"/>
                </a:solidFill>
                <a:latin typeface="Helvetica Neue"/>
                <a:ea typeface="Helvetica Neue"/>
                <a:cs typeface="Helvetica Neue"/>
              </a:rPr>
              <a:t>The historical detection advantage did not persist in the later test period</a:t>
            </a:r>
          </a:p>
        </p:txBody>
      </p:sp>
      <p:sp>
        <p:nvSpPr>
          <p:cNvPr id="3" name="text-qsjecg-1180-673">
            <a:extLst xmlns:a="http://schemas.openxmlformats.org/drawingml/2006/main">
              <a:ext uri="{FF2B5EF4-FFF2-40B4-BE49-F238E27FC236}">
                <a16:creationId xmlns:a16="http://schemas.microsoft.com/office/drawing/2014/main" id="{59AC2B79-3B87-46CA-9032-3C5643A40557}"/>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9"/>
                </a:solidFill>
                <a:latin typeface="Helvetica Neue"/>
                <a:ea typeface="Helvetica Neue"/>
                <a:cs typeface="Helvetica Neue"/>
              </a:defRPr>
            </a:pPr>
            <a:r>
              <a:rPr sz="1200" b="0">
                <a:solidFill>
                  <a:srgbClr val="526879"/>
                </a:solidFill>
                <a:latin typeface="Helvetica Neue"/>
                <a:ea typeface="Helvetica Neue"/>
                <a:cs typeface="Helvetica Neue"/>
              </a:rPr>
              <a:t>15</a:t>
            </a:r>
          </a:p>
        </p:txBody>
      </p:sp>
      <p:graphicFrame>
        <p:nvGraphicFramePr>
          <p:cNvPr id="12" name="Chart"/>
          <p:cNvGraphicFramePr/>
          <p:nvPr/>
        </p:nvGraphicFramePr>
        <p:xfrm>
          <a:off xmlns:a="http://schemas.openxmlformats.org/drawingml/2006/main" x="628650" y="1895475"/>
          <a:ext xmlns:a="http://schemas.openxmlformats.org/drawingml/2006/main" cx="7048500" cy="3476625"/>
        </p:xfrm>
        <a:graphic xmlns:a="http://schemas.openxmlformats.org/drawingml/2006/main">
          <a:graphicData uri="http://schemas.openxmlformats.org/drawingml/2006/chart">
            <c:chart xmlns:r="http://schemas.openxmlformats.org/officeDocument/2006/relationships" xmlns:c="http://schemas.openxmlformats.org/drawingml/2006/chart" r:id="Rbb144e589347420b"/>
          </a:graphicData>
        </a:graphic>
      </p:graphicFrame>
      <p:sp>
        <p:nvSpPr>
          <p:cNvPr id="5" name="text-qsjecg-884-224">
            <a:extLst xmlns:a="http://schemas.openxmlformats.org/drawingml/2006/main">
              <a:ext uri="{FF2B5EF4-FFF2-40B4-BE49-F238E27FC236}">
                <a16:creationId xmlns:a16="http://schemas.microsoft.com/office/drawing/2014/main" id="{13A92CA6-DB07-4B38-9A71-80D2D99CE860}"/>
              </a:ext>
            </a:extLst>
          </p:cNvPr>
          <p:cNvSpPr>
            <a:spLocks xmlns:a="http://schemas.openxmlformats.org/drawingml/2006/main" noGrp="1"/>
          </p:cNvSpPr>
          <p:nvPr/>
        </p:nvSpPr>
        <p:spPr>
          <a:xfrm xmlns:a="http://schemas.openxmlformats.org/drawingml/2006/main">
            <a:off x="8420100" y="2133600"/>
            <a:ext cx="3000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3445"/>
                </a:solidFill>
                <a:latin typeface="Helvetica Neue"/>
                <a:ea typeface="Helvetica Neue"/>
                <a:cs typeface="Helvetica Neue"/>
              </a:defRPr>
            </a:pPr>
            <a:r>
              <a:rPr sz="2625" b="1">
                <a:solidFill>
                  <a:srgbClr val="203445"/>
                </a:solidFill>
                <a:latin typeface="Helvetica Neue"/>
                <a:ea typeface="Helvetica Neue"/>
                <a:cs typeface="Helvetica Neue"/>
              </a:rPr>
              <a:t>20 sensors</a:t>
            </a:r>
          </a:p>
        </p:txBody>
      </p:sp>
      <p:sp>
        <p:nvSpPr>
          <p:cNvPr id="6" name="text-qsjecg-884-306">
            <a:extLst xmlns:a="http://schemas.openxmlformats.org/drawingml/2006/main">
              <a:ext uri="{FF2B5EF4-FFF2-40B4-BE49-F238E27FC236}">
                <a16:creationId xmlns:a16="http://schemas.microsoft.com/office/drawing/2014/main" id="{9D35BA84-DE38-48C8-875C-E6C73E468B97}"/>
              </a:ext>
            </a:extLst>
          </p:cNvPr>
          <p:cNvSpPr>
            <a:spLocks xmlns:a="http://schemas.openxmlformats.org/drawingml/2006/main" noGrp="1"/>
          </p:cNvSpPr>
          <p:nvPr/>
        </p:nvSpPr>
        <p:spPr>
          <a:xfrm xmlns:a="http://schemas.openxmlformats.org/drawingml/2006/main">
            <a:off x="8420100" y="2914650"/>
            <a:ext cx="300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445"/>
                </a:solidFill>
                <a:latin typeface="Helvetica Neue"/>
                <a:ea typeface="Helvetica Neue"/>
                <a:cs typeface="Helvetica Neue"/>
              </a:defRPr>
            </a:pPr>
            <a:r>
              <a:rPr sz="2175" b="1">
                <a:solidFill>
                  <a:srgbClr val="203445"/>
                </a:solidFill>
                <a:latin typeface="Helvetica Neue"/>
                <a:ea typeface="Helvetica Neue"/>
                <a:cs typeface="Helvetica Neue"/>
              </a:rPr>
              <a:t>988 test outbreaks</a:t>
            </a:r>
          </a:p>
        </p:txBody>
      </p:sp>
      <p:sp>
        <p:nvSpPr>
          <p:cNvPr id="7" name="text-qsjecg-884-397">
            <a:extLst xmlns:a="http://schemas.openxmlformats.org/drawingml/2006/main">
              <a:ext uri="{FF2B5EF4-FFF2-40B4-BE49-F238E27FC236}">
                <a16:creationId xmlns:a16="http://schemas.microsoft.com/office/drawing/2014/main" id="{2D034588-E1EC-4B9D-BD40-4289AE997C20}"/>
              </a:ext>
            </a:extLst>
          </p:cNvPr>
          <p:cNvSpPr>
            <a:spLocks xmlns:a="http://schemas.openxmlformats.org/drawingml/2006/main" noGrp="1"/>
          </p:cNvSpPr>
          <p:nvPr/>
        </p:nvSpPr>
        <p:spPr>
          <a:xfrm xmlns:a="http://schemas.openxmlformats.org/drawingml/2006/main">
            <a:off x="8420100" y="3781425"/>
            <a:ext cx="30003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879"/>
                </a:solidFill>
                <a:latin typeface="Helvetica Neue"/>
                <a:ea typeface="Helvetica Neue"/>
                <a:cs typeface="Helvetica Neue"/>
              </a:defRPr>
            </a:pPr>
            <a:r>
              <a:rPr sz="1950" b="0">
                <a:solidFill>
                  <a:srgbClr val="526879"/>
                </a:solidFill>
                <a:latin typeface="Helvetica Neue"/>
                <a:ea typeface="Helvetica Neue"/>
                <a:cs typeface="Helvetica Neue"/>
              </a:rPr>
              <a:t>Selection uses training</a:t>
            </a:r>
          </a:p>
          <a:p xmlns:a="http://schemas.openxmlformats.org/drawingml/2006/main">
            <a:pPr>
              <a:defRPr sz="1950" b="0">
                <a:solidFill>
                  <a:srgbClr val="526879"/>
                </a:solidFill>
                <a:latin typeface="Helvetica Neue"/>
                <a:ea typeface="Helvetica Neue"/>
                <a:cs typeface="Helvetica Neue"/>
              </a:defRPr>
            </a:pPr>
            <a:r>
              <a:rPr sz="1950" b="0">
                <a:solidFill>
                  <a:srgbClr val="526879"/>
                </a:solidFill>
                <a:latin typeface="Helvetica Neue"/>
                <a:ea typeface="Helvetica Neue"/>
                <a:cs typeface="Helvetica Neue"/>
              </a:rPr>
              <a:t>data only. The later</a:t>
            </a:r>
          </a:p>
          <a:p xmlns:a="http://schemas.openxmlformats.org/drawingml/2006/main">
            <a:pPr>
              <a:defRPr sz="1950" b="0">
                <a:solidFill>
                  <a:srgbClr val="526879"/>
                </a:solidFill>
                <a:latin typeface="Helvetica Neue"/>
                <a:ea typeface="Helvetica Neue"/>
                <a:cs typeface="Helvetica Neue"/>
              </a:defRPr>
            </a:pPr>
            <a:r>
              <a:rPr sz="1950" b="0">
                <a:solidFill>
                  <a:srgbClr val="526879"/>
                </a:solidFill>
                <a:latin typeface="Helvetica Neue"/>
                <a:ea typeface="Helvetica Neue"/>
                <a:cs typeface="Helvetica Neue"/>
              </a:rPr>
              <a:t>period tests generalization.</a:t>
            </a:r>
          </a:p>
        </p:txBody>
      </p:sp>
      <p:sp>
        <p:nvSpPr>
          <p:cNvPr id="8" name="text-qsjecg-68-607">
            <a:extLst xmlns:a="http://schemas.openxmlformats.org/drawingml/2006/main">
              <a:ext uri="{FF2B5EF4-FFF2-40B4-BE49-F238E27FC236}">
                <a16:creationId xmlns:a16="http://schemas.microsoft.com/office/drawing/2014/main" id="{1F1EBC75-176F-43CF-A7E9-7CEB3BD1BF6D}"/>
              </a:ext>
            </a:extLst>
          </p:cNvPr>
          <p:cNvSpPr>
            <a:spLocks xmlns:a="http://schemas.openxmlformats.org/drawingml/2006/main" noGrp="1"/>
          </p:cNvSpPr>
          <p:nvPr/>
        </p:nvSpPr>
        <p:spPr>
          <a:xfrm xmlns:a="http://schemas.openxmlformats.org/drawingml/2006/main">
            <a:off x="647700" y="5781675"/>
            <a:ext cx="10801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8575"/>
                </a:solidFill>
                <a:latin typeface="Helvetica Neue"/>
                <a:ea typeface="Helvetica Neue"/>
                <a:cs typeface="Helvetica Neue"/>
              </a:defRPr>
            </a:pPr>
            <a:r>
              <a:rPr sz="2100" b="1">
                <a:solidFill>
                  <a:srgbClr val="168575"/>
                </a:solidFill>
                <a:latin typeface="Helvetica Neue"/>
                <a:ea typeface="Helvetica Neue"/>
                <a:cs typeface="Helvetica Neue"/>
              </a:rPr>
              <a:t>The four headline findings describe the original retrospective experiment.</a:t>
            </a:r>
          </a:p>
        </p:txBody>
      </p:sp>
    </p:spTree>
    <p:extLst>
      <p:ext uri="{BB962C8B-B14F-4D97-AF65-F5344CB8AC3E}">
        <p14:creationId xmlns:p14="http://schemas.microsoft.com/office/powerpoint/2010/main" val="1452202298"/>
      </p:ext>
    </p:extLst>
  </p:cSld>
</p:sld>
</file>

<file path=ppt/slides/slide16.xml><?xml version="1.0" encoding="utf-8"?>
<p:sld xmlns:p="http://schemas.openxmlformats.org/presentationml/2006/main">
  <p:cSld>
    <p:bg>
      <p:bgPr>
        <a:solidFill xmlns:a="http://schemas.openxmlformats.org/drawingml/2006/main">
          <a:srgbClr val="122939"/>
        </a:solidFill>
      </p:bgPr>
    </p:bg>
    <p:spTree>
      <p:nvGrpSpPr>
        <p:cNvPr id="1" name=""/>
        <p:cNvGrpSpPr/>
        <p:nvPr/>
      </p:nvGrpSpPr>
      <p:grpSpPr>
        <a:xfrm xmlns:a="http://schemas.openxmlformats.org/drawingml/2006/main"/>
      </p:grpSpPr>
      <p:sp>
        <p:nvSpPr>
          <p:cNvPr id="13" name="text-jzbxe4-64-42">
            <a:extLst xmlns:a="http://schemas.openxmlformats.org/drawingml/2006/main">
              <a:ext uri="{FF2B5EF4-FFF2-40B4-BE49-F238E27FC236}">
                <a16:creationId xmlns:a16="http://schemas.microsoft.com/office/drawing/2014/main" id="{1FF1D6C7-42F8-4EAE-9D3A-E2C04FCB775F}"/>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What this case study demonstrates</a:t>
            </a:r>
          </a:p>
        </p:txBody>
      </p:sp>
      <p:sp>
        <p:nvSpPr>
          <p:cNvPr id="2" name="text-jzbxe4-66-113">
            <a:extLst xmlns:a="http://schemas.openxmlformats.org/drawingml/2006/main">
              <a:ext uri="{FF2B5EF4-FFF2-40B4-BE49-F238E27FC236}">
                <a16:creationId xmlns:a16="http://schemas.microsoft.com/office/drawing/2014/main" id="{3D3D7DAA-6256-4C8E-ACFA-18D2CCD1FE15}"/>
              </a:ext>
            </a:extLst>
          </p:cNvPr>
          <p:cNvSpPr>
            <a:spLocks xmlns:a="http://schemas.openxmlformats.org/drawingml/2006/main" noGrp="1"/>
          </p:cNvSpPr>
          <p:nvPr/>
        </p:nvSpPr>
        <p:spPr>
          <a:xfrm xmlns:a="http://schemas.openxmlformats.org/drawingml/2006/main">
            <a:off x="628650" y="10763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FD1DD"/>
                </a:solidFill>
                <a:latin typeface="Helvetica Neue"/>
                <a:ea typeface="Helvetica Neue"/>
                <a:cs typeface="Helvetica Neue"/>
              </a:defRPr>
            </a:pPr>
            <a:r>
              <a:rPr sz="1725" b="0">
                <a:solidFill>
                  <a:srgbClr val="BFD1DD"/>
                </a:solidFill>
                <a:latin typeface="Helvetica Neue"/>
                <a:ea typeface="Helvetica Neue"/>
                <a:cs typeface="Helvetica Neue"/>
              </a:rPr>
              <a:t>Four measured findings, with a clear boundary on generalization</a:t>
            </a:r>
          </a:p>
        </p:txBody>
      </p:sp>
      <p:sp>
        <p:nvSpPr>
          <p:cNvPr id="3" name="text-jzbxe4-1180-673">
            <a:extLst xmlns:a="http://schemas.openxmlformats.org/drawingml/2006/main">
              <a:ext uri="{FF2B5EF4-FFF2-40B4-BE49-F238E27FC236}">
                <a16:creationId xmlns:a16="http://schemas.microsoft.com/office/drawing/2014/main" id="{4BE6F70D-5E30-479C-BF64-F5F187F1B8EE}"/>
              </a:ext>
            </a:extLst>
          </p:cNvPr>
          <p:cNvSpPr>
            <a:spLocks xmlns:a="http://schemas.openxmlformats.org/drawingml/2006/main" noGrp="1"/>
          </p:cNvSpPr>
          <p:nvPr/>
        </p:nvSpPr>
        <p:spPr>
          <a:xfrm xmlns:a="http://schemas.openxmlformats.org/drawingml/2006/main">
            <a:off x="11239500" y="64103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D1DD"/>
                </a:solidFill>
                <a:latin typeface="Helvetica Neue"/>
                <a:ea typeface="Helvetica Neue"/>
                <a:cs typeface="Helvetica Neue"/>
              </a:defRPr>
            </a:pPr>
            <a:r>
              <a:rPr sz="1200" b="0">
                <a:solidFill>
                  <a:srgbClr val="BFD1DD"/>
                </a:solidFill>
                <a:latin typeface="Helvetica Neue"/>
                <a:ea typeface="Helvetica Neue"/>
                <a:cs typeface="Helvetica Neue"/>
              </a:rPr>
              <a:t>16</a:t>
            </a:r>
          </a:p>
        </p:txBody>
      </p:sp>
      <p:sp>
        <p:nvSpPr>
          <p:cNvPr id="4" name="text-jzbxe4-68-192">
            <a:extLst xmlns:a="http://schemas.openxmlformats.org/drawingml/2006/main">
              <a:ext uri="{FF2B5EF4-FFF2-40B4-BE49-F238E27FC236}">
                <a16:creationId xmlns:a16="http://schemas.microsoft.com/office/drawing/2014/main" id="{B4FAED37-9D80-47AF-83D0-FC2E654C24F6}"/>
              </a:ext>
            </a:extLst>
          </p:cNvPr>
          <p:cNvSpPr>
            <a:spLocks xmlns:a="http://schemas.openxmlformats.org/drawingml/2006/main" noGrp="1"/>
          </p:cNvSpPr>
          <p:nvPr/>
        </p:nvSpPr>
        <p:spPr>
          <a:xfrm xmlns:a="http://schemas.openxmlformats.org/drawingml/2006/main">
            <a:off x="647700" y="1828800"/>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80CFC3"/>
                </a:solidFill>
                <a:latin typeface="Helvetica Neue"/>
                <a:ea typeface="Helvetica Neue"/>
                <a:cs typeface="Helvetica Neue"/>
              </a:defRPr>
            </a:pPr>
            <a:r>
              <a:rPr sz="4050" b="1">
                <a:solidFill>
                  <a:srgbClr val="80CFC3"/>
                </a:solidFill>
                <a:latin typeface="Helvetica Neue"/>
                <a:ea typeface="Helvetica Neue"/>
                <a:cs typeface="Helvetica Neue"/>
              </a:rPr>
              <a:t>52.1%</a:t>
            </a:r>
          </a:p>
        </p:txBody>
      </p:sp>
      <p:sp>
        <p:nvSpPr>
          <p:cNvPr id="5" name="text-jzbxe4-510-203">
            <a:extLst xmlns:a="http://schemas.openxmlformats.org/drawingml/2006/main">
              <a:ext uri="{FF2B5EF4-FFF2-40B4-BE49-F238E27FC236}">
                <a16:creationId xmlns:a16="http://schemas.microsoft.com/office/drawing/2014/main" id="{6B4498B2-2D1F-4270-8FD7-BEF82142E013}"/>
              </a:ext>
            </a:extLst>
          </p:cNvPr>
          <p:cNvSpPr>
            <a:spLocks xmlns:a="http://schemas.openxmlformats.org/drawingml/2006/main" noGrp="1"/>
          </p:cNvSpPr>
          <p:nvPr/>
        </p:nvSpPr>
        <p:spPr>
          <a:xfrm xmlns:a="http://schemas.openxmlformats.org/drawingml/2006/main">
            <a:off x="4857750" y="1933575"/>
            <a:ext cx="6619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coverage from 20 monitored users</a:t>
            </a:r>
          </a:p>
        </p:txBody>
      </p:sp>
      <p:sp>
        <p:nvSpPr>
          <p:cNvPr id="6" name="text-jzbxe4-68-293">
            <a:extLst xmlns:a="http://schemas.openxmlformats.org/drawingml/2006/main">
              <a:ext uri="{FF2B5EF4-FFF2-40B4-BE49-F238E27FC236}">
                <a16:creationId xmlns:a16="http://schemas.microsoft.com/office/drawing/2014/main" id="{CBDDE77F-E055-4EBC-BE13-A76AD21F690D}"/>
              </a:ext>
            </a:extLst>
          </p:cNvPr>
          <p:cNvSpPr>
            <a:spLocks xmlns:a="http://schemas.openxmlformats.org/drawingml/2006/main" noGrp="1"/>
          </p:cNvSpPr>
          <p:nvPr/>
        </p:nvSpPr>
        <p:spPr>
          <a:xfrm xmlns:a="http://schemas.openxmlformats.org/drawingml/2006/main">
            <a:off x="647700" y="279082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80CFC3"/>
                </a:solidFill>
                <a:latin typeface="Helvetica Neue"/>
                <a:ea typeface="Helvetica Neue"/>
                <a:cs typeface="Helvetica Neue"/>
              </a:defRPr>
            </a:pPr>
            <a:r>
              <a:rPr sz="4050" b="1">
                <a:solidFill>
                  <a:srgbClr val="80CFC3"/>
                </a:solidFill>
                <a:latin typeface="Helvetica Neue"/>
                <a:ea typeface="Helvetica Neue"/>
                <a:cs typeface="Helvetica Neue"/>
              </a:rPr>
              <a:t>+196</a:t>
            </a:r>
          </a:p>
        </p:txBody>
      </p:sp>
      <p:sp>
        <p:nvSpPr>
          <p:cNvPr id="7" name="text-jzbxe4-510-304">
            <a:extLst xmlns:a="http://schemas.openxmlformats.org/drawingml/2006/main">
              <a:ext uri="{FF2B5EF4-FFF2-40B4-BE49-F238E27FC236}">
                <a16:creationId xmlns:a16="http://schemas.microsoft.com/office/drawing/2014/main" id="{E373C744-8595-4E81-A7C9-08F874903A1D}"/>
              </a:ext>
            </a:extLst>
          </p:cNvPr>
          <p:cNvSpPr>
            <a:spLocks xmlns:a="http://schemas.openxmlformats.org/drawingml/2006/main" noGrp="1"/>
          </p:cNvSpPr>
          <p:nvPr/>
        </p:nvSpPr>
        <p:spPr>
          <a:xfrm xmlns:a="http://schemas.openxmlformats.org/drawingml/2006/main">
            <a:off x="4857750" y="2895600"/>
            <a:ext cx="6619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discussions over the activity baseline</a:t>
            </a:r>
          </a:p>
        </p:txBody>
      </p:sp>
      <p:sp>
        <p:nvSpPr>
          <p:cNvPr id="8" name="text-jzbxe4-68-394">
            <a:extLst xmlns:a="http://schemas.openxmlformats.org/drawingml/2006/main">
              <a:ext uri="{FF2B5EF4-FFF2-40B4-BE49-F238E27FC236}">
                <a16:creationId xmlns:a16="http://schemas.microsoft.com/office/drawing/2014/main" id="{C59D26F4-856B-428B-82BB-57A883402C17}"/>
              </a:ext>
            </a:extLst>
          </p:cNvPr>
          <p:cNvSpPr>
            <a:spLocks xmlns:a="http://schemas.openxmlformats.org/drawingml/2006/main" noGrp="1"/>
          </p:cNvSpPr>
          <p:nvPr/>
        </p:nvSpPr>
        <p:spPr>
          <a:xfrm xmlns:a="http://schemas.openxmlformats.org/drawingml/2006/main">
            <a:off x="647700" y="3752850"/>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80CFC3"/>
                </a:solidFill>
                <a:latin typeface="Helvetica Neue"/>
                <a:ea typeface="Helvetica Neue"/>
                <a:cs typeface="Helvetica Neue"/>
              </a:defRPr>
            </a:pPr>
            <a:r>
              <a:rPr sz="4050" b="1">
                <a:solidFill>
                  <a:srgbClr val="80CFC3"/>
                </a:solidFill>
                <a:latin typeface="Helvetica Neue"/>
                <a:ea typeface="Helvetica Neue"/>
                <a:cs typeface="Helvetica Neue"/>
              </a:rPr>
              <a:t>3.95×</a:t>
            </a:r>
          </a:p>
        </p:txBody>
      </p:sp>
      <p:sp>
        <p:nvSpPr>
          <p:cNvPr id="9" name="text-jzbxe4-510-405">
            <a:extLst xmlns:a="http://schemas.openxmlformats.org/drawingml/2006/main">
              <a:ext uri="{FF2B5EF4-FFF2-40B4-BE49-F238E27FC236}">
                <a16:creationId xmlns:a16="http://schemas.microsoft.com/office/drawing/2014/main" id="{55AD8155-DA10-484A-931F-429957A9622F}"/>
              </a:ext>
            </a:extLst>
          </p:cNvPr>
          <p:cNvSpPr>
            <a:spLocks xmlns:a="http://schemas.openxmlformats.org/drawingml/2006/main" noGrp="1"/>
          </p:cNvSpPr>
          <p:nvPr/>
        </p:nvSpPr>
        <p:spPr>
          <a:xfrm xmlns:a="http://schemas.openxmlformats.org/drawingml/2006/main">
            <a:off x="4857750" y="3857625"/>
            <a:ext cx="6619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fewer evaluations for the same greedy seeds</a:t>
            </a:r>
          </a:p>
        </p:txBody>
      </p:sp>
      <p:sp>
        <p:nvSpPr>
          <p:cNvPr id="10" name="text-jzbxe4-68-495">
            <a:extLst xmlns:a="http://schemas.openxmlformats.org/drawingml/2006/main">
              <a:ext uri="{FF2B5EF4-FFF2-40B4-BE49-F238E27FC236}">
                <a16:creationId xmlns:a16="http://schemas.microsoft.com/office/drawing/2014/main" id="{B3EDF4D6-90ED-4F60-AA0C-3B1EE602654D}"/>
              </a:ext>
            </a:extLst>
          </p:cNvPr>
          <p:cNvSpPr>
            <a:spLocks xmlns:a="http://schemas.openxmlformats.org/drawingml/2006/main" noGrp="1"/>
          </p:cNvSpPr>
          <p:nvPr/>
        </p:nvSpPr>
        <p:spPr>
          <a:xfrm xmlns:a="http://schemas.openxmlformats.org/drawingml/2006/main">
            <a:off x="647700" y="471487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80CFC3"/>
                </a:solidFill>
                <a:latin typeface="Helvetica Neue"/>
                <a:ea typeface="Helvetica Neue"/>
                <a:cs typeface="Helvetica Neue"/>
              </a:defRPr>
            </a:pPr>
            <a:r>
              <a:rPr sz="3375" b="1">
                <a:solidFill>
                  <a:srgbClr val="80CFC3"/>
                </a:solidFill>
                <a:latin typeface="Helvetica Neue"/>
                <a:ea typeface="Helvetica Neue"/>
                <a:cs typeface="Helvetica Neue"/>
              </a:rPr>
              <a:t>0.53% / 13.1%</a:t>
            </a:r>
          </a:p>
        </p:txBody>
      </p:sp>
      <p:sp>
        <p:nvSpPr>
          <p:cNvPr id="11" name="text-jzbxe4-510-506">
            <a:extLst xmlns:a="http://schemas.openxmlformats.org/drawingml/2006/main">
              <a:ext uri="{FF2B5EF4-FFF2-40B4-BE49-F238E27FC236}">
                <a16:creationId xmlns:a16="http://schemas.microsoft.com/office/drawing/2014/main" id="{F9A7646E-5BB5-4C71-A21A-2A2280FF54D8}"/>
              </a:ext>
            </a:extLst>
          </p:cNvPr>
          <p:cNvSpPr>
            <a:spLocks xmlns:a="http://schemas.openxmlformats.org/drawingml/2006/main" noGrp="1"/>
          </p:cNvSpPr>
          <p:nvPr/>
        </p:nvSpPr>
        <p:spPr>
          <a:xfrm xmlns:a="http://schemas.openxmlformats.org/drawingml/2006/main">
            <a:off x="4857750" y="4819650"/>
            <a:ext cx="6619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different gains across influence and detection</a:t>
            </a:r>
          </a:p>
        </p:txBody>
      </p:sp>
      <p:sp>
        <p:nvSpPr>
          <p:cNvPr id="12" name="text-jzbxe4-68-622">
            <a:extLst xmlns:a="http://schemas.openxmlformats.org/drawingml/2006/main">
              <a:ext uri="{FF2B5EF4-FFF2-40B4-BE49-F238E27FC236}">
                <a16:creationId xmlns:a16="http://schemas.microsoft.com/office/drawing/2014/main" id="{1D318D35-E057-4960-ABA0-C08593BAF81B}"/>
              </a:ext>
            </a:extLst>
          </p:cNvPr>
          <p:cNvSpPr>
            <a:spLocks xmlns:a="http://schemas.openxmlformats.org/drawingml/2006/main" noGrp="1"/>
          </p:cNvSpPr>
          <p:nvPr/>
        </p:nvSpPr>
        <p:spPr>
          <a:xfrm xmlns:a="http://schemas.openxmlformats.org/drawingml/2006/main">
            <a:off x="647700" y="59245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FD1DD"/>
                </a:solidFill>
                <a:latin typeface="Helvetica Neue"/>
                <a:ea typeface="Helvetica Neue"/>
                <a:cs typeface="Helvetica Neue"/>
              </a:defRPr>
            </a:pPr>
            <a:r>
              <a:rPr sz="1725" b="0">
                <a:solidFill>
                  <a:srgbClr val="BFD1DD"/>
                </a:solidFill>
                <a:latin typeface="Helvetica Neue"/>
                <a:ea typeface="Helvetica Neue"/>
                <a:cs typeface="Helvetica Neue"/>
              </a:rPr>
              <a:t>Historical results motivate the application. Temporal validation defines its limits.</a:t>
            </a:r>
          </a:p>
        </p:txBody>
      </p:sp>
    </p:spTree>
    <p:extLst>
      <p:ext uri="{BB962C8B-B14F-4D97-AF65-F5344CB8AC3E}">
        <p14:creationId xmlns:p14="http://schemas.microsoft.com/office/powerpoint/2010/main" val="15140490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2026-10-03T16:04:29.9100000Z</dcterms:created>
  <dcterms:modified xsi:type="dcterms:W3CDTF">2026-10-03T16:04:29.9100000Z</dcterms:modified>
</coreProperties>
</file>